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6" r:id="rId4"/>
  </p:sldMasterIdLst>
  <p:notesMasterIdLst>
    <p:notesMasterId r:id="rId11"/>
  </p:notesMasterIdLst>
  <p:handoutMasterIdLst>
    <p:handoutMasterId r:id="rId12"/>
  </p:handoutMasterIdLst>
  <p:sldIdLst>
    <p:sldId id="3632" r:id="rId5"/>
    <p:sldId id="3633" r:id="rId6"/>
    <p:sldId id="3634" r:id="rId7"/>
    <p:sldId id="3635" r:id="rId8"/>
    <p:sldId id="3636" r:id="rId9"/>
    <p:sldId id="3637" r:id="rId1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FFCC99"/>
    <a:srgbClr val="FFFF99"/>
    <a:srgbClr val="1F6765"/>
    <a:srgbClr val="E4EFEE"/>
    <a:srgbClr val="FFFFCC"/>
    <a:srgbClr val="E6F2F1"/>
    <a:srgbClr val="AAD7D2"/>
    <a:srgbClr val="D8ECEB"/>
    <a:srgbClr val="F2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A384C4-86D3-9C56-66AF-C5B073FDC557}" v="42" dt="2026-04-16T07:19:30.436"/>
    <p1510:client id="{DD67D0D8-25CF-BBCC-73F3-7D42751407A5}" v="9" dt="2026-04-15T00:35:57.642"/>
  </p1510:revLst>
</p1510:revInfo>
</file>

<file path=ppt/tableStyles.xml><?xml version="1.0" encoding="utf-8"?>
<a:tblStyleLst xmlns:a="http://schemas.openxmlformats.org/drawingml/2006/main" def="{A4739C91-EA2B-441A-B1FC-6100ADDC1FEA}">
  <a:tblStyle styleId="{A4739C91-EA2B-441A-B1FC-6100ADDC1F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37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노경천" userId="S::a091096@aivle.kt.co.kr::abafa1d9-942e-4278-9356-b89ef9992cb2" providerId="AD" clId="Web-{2AA384C4-86D3-9C56-66AF-C5B073FDC557}"/>
    <pc:docChg chg="addSld modSld">
      <pc:chgData name="노경천" userId="S::a091096@aivle.kt.co.kr::abafa1d9-942e-4278-9356-b89ef9992cb2" providerId="AD" clId="Web-{2AA384C4-86D3-9C56-66AF-C5B073FDC557}" dt="2026-04-16T07:19:30.436" v="41" actId="14100"/>
      <pc:docMkLst>
        <pc:docMk/>
      </pc:docMkLst>
      <pc:sldChg chg="addSp delSp modSp add replId">
        <pc:chgData name="노경천" userId="S::a091096@aivle.kt.co.kr::abafa1d9-942e-4278-9356-b89ef9992cb2" providerId="AD" clId="Web-{2AA384C4-86D3-9C56-66AF-C5B073FDC557}" dt="2026-04-16T07:19:30.436" v="41" actId="14100"/>
        <pc:sldMkLst>
          <pc:docMk/>
          <pc:sldMk cId="1756640268" sldId="3634"/>
        </pc:sldMkLst>
        <pc:spChg chg="add del">
          <ac:chgData name="노경천" userId="S::a091096@aivle.kt.co.kr::abafa1d9-942e-4278-9356-b89ef9992cb2" providerId="AD" clId="Web-{2AA384C4-86D3-9C56-66AF-C5B073FDC557}" dt="2026-04-16T07:19:01.715" v="34"/>
          <ac:spMkLst>
            <pc:docMk/>
            <pc:sldMk cId="1756640268" sldId="3634"/>
            <ac:spMk id="2" creationId="{57D32052-5740-008C-B54E-6F988488F126}"/>
          </ac:spMkLst>
        </pc:spChg>
        <pc:spChg chg="add mod">
          <ac:chgData name="노경천" userId="S::a091096@aivle.kt.co.kr::abafa1d9-942e-4278-9356-b89ef9992cb2" providerId="AD" clId="Web-{2AA384C4-86D3-9C56-66AF-C5B073FDC557}" dt="2026-04-16T07:19:30.436" v="41" actId="14100"/>
          <ac:spMkLst>
            <pc:docMk/>
            <pc:sldMk cId="1756640268" sldId="3634"/>
            <ac:spMk id="3" creationId="{6DE45870-4D3A-41B1-18C5-24FDEAD0263B}"/>
          </ac:spMkLst>
        </pc:spChg>
        <pc:spChg chg="mod">
          <ac:chgData name="노경천" userId="S::a091096@aivle.kt.co.kr::abafa1d9-942e-4278-9356-b89ef9992cb2" providerId="AD" clId="Web-{2AA384C4-86D3-9C56-66AF-C5B073FDC557}" dt="2026-04-16T07:18:19.227" v="23" actId="20577"/>
          <ac:spMkLst>
            <pc:docMk/>
            <pc:sldMk cId="1756640268" sldId="3634"/>
            <ac:spMk id="6" creationId="{4BC677DF-B56D-0F00-E884-ED6BDB223FDC}"/>
          </ac:spMkLst>
        </pc:spChg>
        <pc:graphicFrameChg chg="del mod">
          <ac:chgData name="노경천" userId="S::a091096@aivle.kt.co.kr::abafa1d9-942e-4278-9356-b89ef9992cb2" providerId="AD" clId="Web-{2AA384C4-86D3-9C56-66AF-C5B073FDC557}" dt="2026-04-16T07:18:27.774" v="25"/>
          <ac:graphicFrameMkLst>
            <pc:docMk/>
            <pc:sldMk cId="1756640268" sldId="3634"/>
            <ac:graphicFrameMk id="4" creationId="{3764CEA0-3C12-FF60-B50B-B1AAE0C1515B}"/>
          </ac:graphicFrameMkLst>
        </pc:graphicFrameChg>
      </pc:sldChg>
      <pc:sldChg chg="modSp add replId">
        <pc:chgData name="노경천" userId="S::a091096@aivle.kt.co.kr::abafa1d9-942e-4278-9356-b89ef9992cb2" providerId="AD" clId="Web-{2AA384C4-86D3-9C56-66AF-C5B073FDC557}" dt="2026-04-16T07:18:36.869" v="30" actId="20577"/>
        <pc:sldMkLst>
          <pc:docMk/>
          <pc:sldMk cId="776289861" sldId="3635"/>
        </pc:sldMkLst>
        <pc:spChg chg="mod">
          <ac:chgData name="노경천" userId="S::a091096@aivle.kt.co.kr::abafa1d9-942e-4278-9356-b89ef9992cb2" providerId="AD" clId="Web-{2AA384C4-86D3-9C56-66AF-C5B073FDC557}" dt="2026-04-16T07:18:36.869" v="30" actId="20577"/>
          <ac:spMkLst>
            <pc:docMk/>
            <pc:sldMk cId="776289861" sldId="3635"/>
            <ac:spMk id="6" creationId="{E1B92B9C-B0A9-AA41-F4C6-E0DC71C7FE8D}"/>
          </ac:spMkLst>
        </pc:spChg>
      </pc:sldChg>
      <pc:sldChg chg="modSp add replId">
        <pc:chgData name="노경천" userId="S::a091096@aivle.kt.co.kr::abafa1d9-942e-4278-9356-b89ef9992cb2" providerId="AD" clId="Web-{2AA384C4-86D3-9C56-66AF-C5B073FDC557}" dt="2026-04-16T07:18:41.994" v="31" actId="20577"/>
        <pc:sldMkLst>
          <pc:docMk/>
          <pc:sldMk cId="4247426441" sldId="3636"/>
        </pc:sldMkLst>
        <pc:spChg chg="mod">
          <ac:chgData name="노경천" userId="S::a091096@aivle.kt.co.kr::abafa1d9-942e-4278-9356-b89ef9992cb2" providerId="AD" clId="Web-{2AA384C4-86D3-9C56-66AF-C5B073FDC557}" dt="2026-04-16T07:18:41.994" v="31" actId="20577"/>
          <ac:spMkLst>
            <pc:docMk/>
            <pc:sldMk cId="4247426441" sldId="3636"/>
            <ac:spMk id="6" creationId="{8DA0F37F-1177-FE64-DC97-093FCC8A7782}"/>
          </ac:spMkLst>
        </pc:spChg>
      </pc:sldChg>
      <pc:sldChg chg="modSp add replId">
        <pc:chgData name="노경천" userId="S::a091096@aivle.kt.co.kr::abafa1d9-942e-4278-9356-b89ef9992cb2" providerId="AD" clId="Web-{2AA384C4-86D3-9C56-66AF-C5B073FDC557}" dt="2026-04-16T07:18:46.838" v="32" actId="20577"/>
        <pc:sldMkLst>
          <pc:docMk/>
          <pc:sldMk cId="3514162519" sldId="3637"/>
        </pc:sldMkLst>
        <pc:spChg chg="mod">
          <ac:chgData name="노경천" userId="S::a091096@aivle.kt.co.kr::abafa1d9-942e-4278-9356-b89ef9992cb2" providerId="AD" clId="Web-{2AA384C4-86D3-9C56-66AF-C5B073FDC557}" dt="2026-04-16T07:18:46.838" v="32" actId="20577"/>
          <ac:spMkLst>
            <pc:docMk/>
            <pc:sldMk cId="3514162519" sldId="3637"/>
            <ac:spMk id="6" creationId="{C7FD4AAA-9BC8-A063-BFC0-4D451110B53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DD5EE2-0F71-437D-9438-13CCE6E2D3A4}" type="datetimeFigureOut">
              <a:rPr lang="ko-KR" altLang="en-US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2026-04-16</a:t>
            </a:fld>
            <a:endParaRPr lang="ko-KR" altLang="en-US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5F53A9-D8CC-4D53-A6BF-2C0C2798EC5D}" type="slidenum">
              <a:rPr lang="ko-KR" altLang="en-US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‹#›</a:t>
            </a:fld>
            <a:endParaRPr lang="ko-KR" altLang="en-US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49014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</a:pPr>
            <a:endParaRPr lang="en-US" altLang="ko-KR" sz="1200" b="0" i="0" u="none" strike="noStrike" cap="none">
              <a:solidFill>
                <a:schemeClr val="dk1"/>
              </a:solidFill>
              <a:latin typeface="Malgun Gothic"/>
              <a:ea typeface="Malgun Gothic"/>
              <a:sym typeface="Malgun Gothic"/>
            </a:endParaRPr>
          </a:p>
        </p:txBody>
      </p:sp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502026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</a:pPr>
            <a:endParaRPr lang="en-US" altLang="ko-KR" sz="1200" b="0" i="0" u="none" strike="noStrike" cap="none">
              <a:solidFill>
                <a:schemeClr val="dk1"/>
              </a:solidFill>
              <a:latin typeface="Malgun Gothic"/>
              <a:ea typeface="Malgun Gothic"/>
              <a:sym typeface="Malgun Gothic"/>
            </a:endParaRPr>
          </a:p>
        </p:txBody>
      </p:sp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80214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EB1D7249-6EAD-5127-27DD-DC5E694D4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>
            <a:extLst>
              <a:ext uri="{FF2B5EF4-FFF2-40B4-BE49-F238E27FC236}">
                <a16:creationId xmlns:a16="http://schemas.microsoft.com/office/drawing/2014/main" id="{9729FC58-9564-6FFE-3347-B3DDBBD750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</a:pPr>
            <a:endParaRPr lang="en-US" altLang="ko-KR" sz="1200" b="0" i="0" u="none" strike="noStrike" cap="none">
              <a:solidFill>
                <a:schemeClr val="dk1"/>
              </a:solidFill>
              <a:latin typeface="Malgun Gothic"/>
              <a:ea typeface="Malgun Gothic"/>
              <a:sym typeface="Malgun Gothic"/>
            </a:endParaRPr>
          </a:p>
        </p:txBody>
      </p:sp>
      <p:sp>
        <p:nvSpPr>
          <p:cNvPr id="55" name="Google Shape;55;p2:notes">
            <a:extLst>
              <a:ext uri="{FF2B5EF4-FFF2-40B4-BE49-F238E27FC236}">
                <a16:creationId xmlns:a16="http://schemas.microsoft.com/office/drawing/2014/main" id="{07307636-83C7-15DF-2B80-8289D75EBF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25095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4CA8DF13-6A5D-CD50-5D16-025C94B97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>
            <a:extLst>
              <a:ext uri="{FF2B5EF4-FFF2-40B4-BE49-F238E27FC236}">
                <a16:creationId xmlns:a16="http://schemas.microsoft.com/office/drawing/2014/main" id="{2828A8B6-BD6B-8889-40E6-39ABAD9A8D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</a:pPr>
            <a:endParaRPr lang="en-US" altLang="ko-KR" sz="1200" b="0" i="0" u="none" strike="noStrike" cap="none">
              <a:solidFill>
                <a:schemeClr val="dk1"/>
              </a:solidFill>
              <a:latin typeface="Malgun Gothic"/>
              <a:ea typeface="Malgun Gothic"/>
              <a:sym typeface="Malgun Gothic"/>
            </a:endParaRPr>
          </a:p>
        </p:txBody>
      </p:sp>
      <p:sp>
        <p:nvSpPr>
          <p:cNvPr id="55" name="Google Shape;55;p2:notes">
            <a:extLst>
              <a:ext uri="{FF2B5EF4-FFF2-40B4-BE49-F238E27FC236}">
                <a16:creationId xmlns:a16="http://schemas.microsoft.com/office/drawing/2014/main" id="{0D223D16-F478-900E-37D9-A6E9DBA124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00808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2CD86A8B-EA61-8160-84B9-200B3923EC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>
            <a:extLst>
              <a:ext uri="{FF2B5EF4-FFF2-40B4-BE49-F238E27FC236}">
                <a16:creationId xmlns:a16="http://schemas.microsoft.com/office/drawing/2014/main" id="{54234878-E783-F6AC-75E6-B3CD3427EA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</a:pPr>
            <a:endParaRPr lang="en-US" altLang="ko-KR" sz="1200" b="0" i="0" u="none" strike="noStrike" cap="none">
              <a:solidFill>
                <a:schemeClr val="dk1"/>
              </a:solidFill>
              <a:latin typeface="Malgun Gothic"/>
              <a:ea typeface="Malgun Gothic"/>
              <a:sym typeface="Malgun Gothic"/>
            </a:endParaRPr>
          </a:p>
        </p:txBody>
      </p:sp>
      <p:sp>
        <p:nvSpPr>
          <p:cNvPr id="55" name="Google Shape;55;p2:notes">
            <a:extLst>
              <a:ext uri="{FF2B5EF4-FFF2-40B4-BE49-F238E27FC236}">
                <a16:creationId xmlns:a16="http://schemas.microsoft.com/office/drawing/2014/main" id="{32D30708-05C1-49A2-A1EB-9240BB0651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749293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>
          <a:extLst>
            <a:ext uri="{FF2B5EF4-FFF2-40B4-BE49-F238E27FC236}">
              <a16:creationId xmlns:a16="http://schemas.microsoft.com/office/drawing/2014/main" id="{A9E00FC3-39DD-7BCA-109D-378A02621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>
            <a:extLst>
              <a:ext uri="{FF2B5EF4-FFF2-40B4-BE49-F238E27FC236}">
                <a16:creationId xmlns:a16="http://schemas.microsoft.com/office/drawing/2014/main" id="{C0C533F6-AA3A-2849-5BB7-28A2B108CF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Tx/>
              <a:buNone/>
            </a:pPr>
            <a:endParaRPr lang="en-US" altLang="ko-KR" sz="1200" b="0" i="0" u="none" strike="noStrike" cap="none">
              <a:solidFill>
                <a:schemeClr val="dk1"/>
              </a:solidFill>
              <a:latin typeface="Malgun Gothic"/>
              <a:ea typeface="Malgun Gothic"/>
              <a:sym typeface="Malgun Gothic"/>
            </a:endParaRPr>
          </a:p>
        </p:txBody>
      </p:sp>
      <p:sp>
        <p:nvSpPr>
          <p:cNvPr id="55" name="Google Shape;55;p2:notes">
            <a:extLst>
              <a:ext uri="{FF2B5EF4-FFF2-40B4-BE49-F238E27FC236}">
                <a16:creationId xmlns:a16="http://schemas.microsoft.com/office/drawing/2014/main" id="{74965AE1-984E-10F3-DE99-41EAC63056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75826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사용자 지정 레이아웃">
  <p:cSld name="사용자 지정 레이아웃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C7CF2056-2E41-4C40-AE19-A9A1125F85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715" b="21945"/>
          <a:stretch/>
        </p:blipFill>
        <p:spPr>
          <a:xfrm>
            <a:off x="0" y="3596531"/>
            <a:ext cx="12192000" cy="285905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DEA947DF-4474-4457-99B3-14ADC3E382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552" b="21945"/>
          <a:stretch/>
        </p:blipFill>
        <p:spPr>
          <a:xfrm>
            <a:off x="0" y="0"/>
            <a:ext cx="12192000" cy="3600594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C30C2DB1-E1BF-4A77-BBF7-D6BABA4974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715" b="21945"/>
          <a:stretch/>
        </p:blipFill>
        <p:spPr>
          <a:xfrm>
            <a:off x="0" y="6148873"/>
            <a:ext cx="12192000" cy="709127"/>
          </a:xfrm>
          <a:prstGeom prst="rect">
            <a:avLst/>
          </a:prstGeom>
        </p:spPr>
      </p:pic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532456" y="510866"/>
            <a:ext cx="10821346" cy="59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344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9pPr>
          </a:lstStyle>
          <a:p>
            <a:endParaRPr/>
          </a:p>
        </p:txBody>
      </p:sp>
      <p:cxnSp>
        <p:nvCxnSpPr>
          <p:cNvPr id="18" name="Google Shape;18;p3"/>
          <p:cNvCxnSpPr>
            <a:cxnSpLocks/>
            <a:stCxn id="22" idx="1"/>
            <a:endCxn id="22" idx="3"/>
          </p:cNvCxnSpPr>
          <p:nvPr/>
        </p:nvCxnSpPr>
        <p:spPr>
          <a:xfrm>
            <a:off x="0" y="6503437"/>
            <a:ext cx="1219200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" name="Google Shape;19;p3"/>
          <p:cNvSpPr txBox="1"/>
          <p:nvPr/>
        </p:nvSpPr>
        <p:spPr>
          <a:xfrm>
            <a:off x="11266756" y="6559088"/>
            <a:ext cx="755737" cy="157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31"/>
              <a:buFont typeface="Arial"/>
              <a:buNone/>
            </a:pPr>
            <a:fld id="{00000000-1234-1234-1234-123412341234}" type="slidenum">
              <a:rPr lang="en-US" altLang="ko-KR" sz="1023" b="0" i="0" u="none" strike="noStrike" cap="none">
                <a:solidFill>
                  <a:srgbClr val="7F7F7F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Arial"/>
                <a:sym typeface="Arial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831"/>
                <a:buFont typeface="Arial"/>
                <a:buNone/>
              </a:pPr>
              <a:t>‹#›</a:t>
            </a:fld>
            <a:endParaRPr sz="1023" b="0" i="0" u="none" strike="noStrike" cap="none">
              <a:solidFill>
                <a:srgbClr val="7F7F7F"/>
              </a:solidFill>
              <a:latin typeface="맑은 고딕" panose="020B0503020000020004" pitchFamily="34" charset="-127"/>
              <a:ea typeface="맑은 고딕" panose="020B0503020000020004" pitchFamily="34" charset="-127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210470" y="6559088"/>
            <a:ext cx="3556571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92" b="1" i="0" u="none" strike="noStrike" cap="none">
                <a:solidFill>
                  <a:srgbClr val="34AEAA"/>
                </a:solidFill>
                <a:latin typeface="나눔스퀘어 네오 Heavy" panose="00000A00000000000000" pitchFamily="2" charset="-127"/>
                <a:ea typeface="나눔스퀘어 네오 Heavy" panose="00000A00000000000000" pitchFamily="2" charset="-127"/>
                <a:cs typeface="Arial"/>
                <a:sym typeface="Arial"/>
              </a:rPr>
              <a:t>KT AIVLE School</a:t>
            </a:r>
            <a:endParaRPr sz="1723">
              <a:solidFill>
                <a:srgbClr val="34AEAA"/>
              </a:solidFill>
              <a:latin typeface="나눔스퀘어 네오 Heavy" panose="00000A00000000000000" pitchFamily="2" charset="-127"/>
              <a:ea typeface="나눔스퀘어 네오 Heavy" panose="00000A00000000000000" pitchFamily="2" charset="-127"/>
            </a:endParaRPr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553369" y="1338454"/>
            <a:ext cx="10757098" cy="655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562722" marR="0" lvl="0" indent="-468935" algn="l" rtl="0">
              <a:lnSpc>
                <a:spcPct val="90000"/>
              </a:lnSpc>
              <a:spcBef>
                <a:spcPts val="123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  <a:defRPr sz="2954" b="1" i="0" u="none" strike="noStrike" cap="none">
                <a:solidFill>
                  <a:schemeClr val="dk1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Arial"/>
                <a:sym typeface="Arial"/>
              </a:defRPr>
            </a:lvl1pPr>
            <a:lvl2pPr marL="1125444" marR="0" lvl="1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221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688165" marR="0" lvl="2" indent="-40641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96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250887" marR="0" lvl="3" indent="-390779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72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813609" marR="0" lvl="4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376331" marR="0" lvl="5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939052" marR="0" lvl="6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501774" marR="0" lvl="7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064496" marR="0" lvl="8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0DB33C9-9F17-4570-866B-17EF57204CD7}"/>
              </a:ext>
            </a:extLst>
          </p:cNvPr>
          <p:cNvSpPr/>
          <p:nvPr userDrawn="1"/>
        </p:nvSpPr>
        <p:spPr>
          <a:xfrm>
            <a:off x="169507" y="1142862"/>
            <a:ext cx="11852986" cy="52747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34" charset="-127"/>
            </a:endParaRPr>
          </a:p>
        </p:txBody>
      </p:sp>
      <p:cxnSp>
        <p:nvCxnSpPr>
          <p:cNvPr id="12" name="Google Shape;12;p40">
            <a:extLst>
              <a:ext uri="{FF2B5EF4-FFF2-40B4-BE49-F238E27FC236}">
                <a16:creationId xmlns:a16="http://schemas.microsoft.com/office/drawing/2014/main" id="{101F6C97-5613-4029-91DD-AB91A50C6258}"/>
              </a:ext>
            </a:extLst>
          </p:cNvPr>
          <p:cNvCxnSpPr/>
          <p:nvPr userDrawn="1"/>
        </p:nvCxnSpPr>
        <p:spPr>
          <a:xfrm rot="10800000">
            <a:off x="-5" y="1046297"/>
            <a:ext cx="12192005" cy="20820"/>
          </a:xfrm>
          <a:prstGeom prst="straightConnector1">
            <a:avLst/>
          </a:prstGeom>
          <a:noFill/>
          <a:ln w="28575" cap="flat" cmpd="thickThin">
            <a:solidFill>
              <a:srgbClr val="02BDB6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4" name="Google Shape;39;p42">
            <a:extLst>
              <a:ext uri="{FF2B5EF4-FFF2-40B4-BE49-F238E27FC236}">
                <a16:creationId xmlns:a16="http://schemas.microsoft.com/office/drawing/2014/main" id="{CD0CE241-17D8-47FB-BD1F-FE7D316AC62A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10954455" y="126128"/>
            <a:ext cx="1068038" cy="2432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609600" y="27432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sz="4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sz="4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sz="4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sz="4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565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562722" marR="0" lvl="0" indent="-456586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42"/>
              <a:buFont typeface="Arial"/>
              <a:buChar char="•"/>
              <a:defRPr sz="2759" b="0" i="0" u="none" strike="noStrike" cap="none">
                <a:solidFill>
                  <a:schemeClr val="dk1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Arial"/>
                <a:sym typeface="Arial"/>
              </a:defRPr>
            </a:lvl1pPr>
            <a:lvl2pPr marL="1125444" marR="0" lvl="1" indent="-433765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688165" marR="0" lvl="2" indent="-418524" algn="l" rtl="0">
              <a:lnSpc>
                <a:spcPct val="9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755"/>
              <a:buFont typeface="Arial"/>
              <a:buChar char="•"/>
              <a:defRPr sz="215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250887" marR="0" lvl="3" indent="-403284" algn="l" rtl="0">
              <a:lnSpc>
                <a:spcPct val="9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560"/>
              <a:buFont typeface="Arial"/>
              <a:buChar char="–"/>
              <a:defRPr sz="192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813609" marR="0" lvl="4" indent="-403284" algn="l" rtl="0">
              <a:lnSpc>
                <a:spcPct val="9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560"/>
              <a:buFont typeface="Arial"/>
              <a:buChar char="»"/>
              <a:defRPr sz="192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376331" marR="0" lvl="5" indent="-40589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939052" marR="0" lvl="6" indent="-40589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01774" marR="0" lvl="7" indent="-40589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064496" marR="0" lvl="8" indent="-40589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">
  <p:cSld name="Section Titl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>
            <a:spLocks noGrp="1"/>
          </p:cNvSpPr>
          <p:nvPr>
            <p:ph type="title"/>
          </p:nvPr>
        </p:nvSpPr>
        <p:spPr>
          <a:xfrm>
            <a:off x="269241" y="2084172"/>
            <a:ext cx="11653522" cy="1162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35"/>
              <a:buFont typeface="Calibri"/>
              <a:buNone/>
              <a:defRPr sz="705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57;p11">
            <a:extLst>
              <a:ext uri="{FF2B5EF4-FFF2-40B4-BE49-F238E27FC236}">
                <a16:creationId xmlns:a16="http://schemas.microsoft.com/office/drawing/2014/main" id="{F3DB9266-1032-4535-A5FC-D4964A5049A9}"/>
              </a:ext>
            </a:extLst>
          </p:cNvPr>
          <p:cNvSpPr txBox="1">
            <a:spLocks/>
          </p:cNvSpPr>
          <p:nvPr/>
        </p:nvSpPr>
        <p:spPr>
          <a:xfrm>
            <a:off x="177762" y="227159"/>
            <a:ext cx="6808597" cy="628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23" tIns="56246" rIns="112523" bIns="5624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344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0000"/>
              </a:lnSpc>
            </a:pPr>
            <a:r>
              <a:rPr lang="ko-KR" altLang="en-US" sz="32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/>
                <a:sym typeface="Arial"/>
              </a:rPr>
              <a:t>포트폴리오 구조화</a:t>
            </a:r>
          </a:p>
        </p:txBody>
      </p:sp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CF7A5A80-58DF-4E0C-999A-4FCB80FF9F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4363122"/>
              </p:ext>
            </p:extLst>
          </p:nvPr>
        </p:nvGraphicFramePr>
        <p:xfrm>
          <a:off x="1271166" y="1786305"/>
          <a:ext cx="9536096" cy="4180509"/>
        </p:xfrm>
        <a:graphic>
          <a:graphicData uri="http://schemas.openxmlformats.org/drawingml/2006/table">
            <a:tbl>
              <a:tblPr firstRow="1" bandRow="1">
                <a:tableStyleId>{A4739C91-EA2B-441A-B1FC-6100ADDC1FEA}</a:tableStyleId>
              </a:tblPr>
              <a:tblGrid>
                <a:gridCol w="4768048">
                  <a:extLst>
                    <a:ext uri="{9D8B030D-6E8A-4147-A177-3AD203B41FA5}">
                      <a16:colId xmlns:a16="http://schemas.microsoft.com/office/drawing/2014/main" val="2022113663"/>
                    </a:ext>
                  </a:extLst>
                </a:gridCol>
                <a:gridCol w="4768048">
                  <a:extLst>
                    <a:ext uri="{9D8B030D-6E8A-4147-A177-3AD203B41FA5}">
                      <a16:colId xmlns:a16="http://schemas.microsoft.com/office/drawing/2014/main" val="1766571117"/>
                    </a:ext>
                  </a:extLst>
                </a:gridCol>
              </a:tblGrid>
              <a:tr h="5091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항목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설명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573326"/>
                  </a:ext>
                </a:extLst>
              </a:tr>
              <a:tr h="5091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프로젝트명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항공 이용 고객 만족도 예측을 통한 서비스 개선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127066"/>
                  </a:ext>
                </a:extLst>
              </a:tr>
              <a:tr h="5091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기간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/>
                        <a:t>26.04.14-15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0580114"/>
                  </a:ext>
                </a:extLst>
              </a:tr>
              <a:tr h="5091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목표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실질적인 고객만족도를 높이기 위해 부정적 영향을 끼치는 서비스 요인을 파악하고 개선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7524011"/>
                  </a:ext>
                </a:extLst>
              </a:tr>
              <a:tr h="5091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내 역할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서기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7137479"/>
                  </a:ext>
                </a:extLst>
              </a:tr>
              <a:tr h="5091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사용 기술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err="1"/>
                        <a:t>클로바노트</a:t>
                      </a:r>
                      <a:r>
                        <a:rPr lang="en-US" altLang="ko-KR"/>
                        <a:t>+Gemini3.1pro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6128167"/>
                  </a:ext>
                </a:extLst>
              </a:tr>
              <a:tr h="5091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결과물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회의록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9234828"/>
                  </a:ext>
                </a:extLst>
              </a:tr>
              <a:tr h="50913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배운 점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/>
                        <a:t>사람이 기록하는 시대는 지나갔다</a:t>
                      </a:r>
                      <a:r>
                        <a:rPr lang="en-US" altLang="ko-KR"/>
                        <a:t>.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0752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8563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57;p11">
            <a:extLst>
              <a:ext uri="{FF2B5EF4-FFF2-40B4-BE49-F238E27FC236}">
                <a16:creationId xmlns:a16="http://schemas.microsoft.com/office/drawing/2014/main" id="{F3DB9266-1032-4535-A5FC-D4964A5049A9}"/>
              </a:ext>
            </a:extLst>
          </p:cNvPr>
          <p:cNvSpPr txBox="1">
            <a:spLocks/>
          </p:cNvSpPr>
          <p:nvPr/>
        </p:nvSpPr>
        <p:spPr>
          <a:xfrm>
            <a:off x="177762" y="227159"/>
            <a:ext cx="6808597" cy="628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23" tIns="56246" rIns="112523" bIns="5624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344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0000"/>
              </a:lnSpc>
            </a:pPr>
            <a:r>
              <a:rPr lang="ko-KR" altLang="en-US" sz="3200" spc="-10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Arial"/>
                <a:sym typeface="Arial"/>
              </a:rPr>
              <a:t>경험 구체화 </a:t>
            </a:r>
          </a:p>
        </p:txBody>
      </p:sp>
      <p:graphicFrame>
        <p:nvGraphicFramePr>
          <p:cNvPr id="4" name="Google Shape;516;g1b5d807d25a_29_172">
            <a:extLst>
              <a:ext uri="{FF2B5EF4-FFF2-40B4-BE49-F238E27FC236}">
                <a16:creationId xmlns:a16="http://schemas.microsoft.com/office/drawing/2014/main" id="{79B0CB51-8791-4048-AEF7-0282A6E781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2638539"/>
              </p:ext>
            </p:extLst>
          </p:nvPr>
        </p:nvGraphicFramePr>
        <p:xfrm>
          <a:off x="177762" y="1146022"/>
          <a:ext cx="11834944" cy="524991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623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114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017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반</a:t>
                      </a:r>
                      <a:r>
                        <a:rPr lang="en-US" altLang="ko-KR" sz="1400" b="1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/</a:t>
                      </a:r>
                      <a:r>
                        <a:rPr lang="ko-KR" altLang="en-US" sz="1400" b="1">
                          <a:solidFill>
                            <a:schemeClr val="bg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조</a:t>
                      </a:r>
                      <a:endParaRPr sz="1400" b="1">
                        <a:solidFill>
                          <a:schemeClr val="bg1"/>
                        </a:solidFill>
                        <a:latin typeface="나눔스퀘어 Bold" panose="020B0600000101010101" pitchFamily="50" charset="-127"/>
                        <a:ea typeface="나눔스퀘어 Bold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AEA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나눔스퀘어 Bold"/>
                          <a:ea typeface="나눔스퀘어 Bold"/>
                        </a:rPr>
                        <a:t>수도권</a:t>
                      </a: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나눔스퀘어 Bold"/>
                          <a:ea typeface="나눔스퀘어 Bold"/>
                        </a:rPr>
                        <a:t>_6</a:t>
                      </a: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나눔스퀘어 Bold"/>
                          <a:ea typeface="나눔스퀘어 Bold"/>
                        </a:rPr>
                        <a:t>반</a:t>
                      </a:r>
                      <a:r>
                        <a:rPr lang="en-US" altLang="ko-KR" sz="1400">
                          <a:solidFill>
                            <a:schemeClr val="bg1"/>
                          </a:solidFill>
                          <a:latin typeface="나눔스퀘어 Bold"/>
                          <a:ea typeface="나눔스퀘어 Bold"/>
                        </a:rPr>
                        <a:t>_18</a:t>
                      </a:r>
                      <a:r>
                        <a:rPr lang="ko-KR" altLang="en-US" sz="1400">
                          <a:solidFill>
                            <a:schemeClr val="bg1"/>
                          </a:solidFill>
                          <a:latin typeface="나눔스퀘어 Bold"/>
                          <a:ea typeface="나눔스퀘어 Bold"/>
                        </a:rPr>
                        <a:t>조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AE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05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조원 성명</a:t>
                      </a:r>
                      <a:r>
                        <a:rPr lang="en-US" altLang="ko-KR" sz="12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(</a:t>
                      </a:r>
                      <a:r>
                        <a:rPr lang="ko-KR" altLang="en-US" sz="12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조장을 맨 앞에</a:t>
                      </a:r>
                      <a:r>
                        <a:rPr lang="en-US" altLang="ko-KR" sz="12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)</a:t>
                      </a:r>
                      <a:endParaRPr sz="1400" b="1" u="none" strike="noStrike" cap="none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u="none" strike="noStrike" cap="none">
                          <a:solidFill>
                            <a:schemeClr val="tx1"/>
                          </a:solidFill>
                          <a:latin typeface="나눔스퀘어 Bold"/>
                          <a:ea typeface="나눔스퀘어 Bold"/>
                        </a:rPr>
                        <a:t>김현민 강민수 김경순 김창민 노경천 </a:t>
                      </a:r>
                      <a:r>
                        <a:rPr lang="ko-KR" altLang="en-US" sz="1100" u="none" strike="noStrike" cap="none" err="1">
                          <a:solidFill>
                            <a:schemeClr val="tx1"/>
                          </a:solidFill>
                          <a:latin typeface="나눔스퀘어 Bold"/>
                          <a:ea typeface="나눔스퀘어 Bold"/>
                        </a:rPr>
                        <a:t>류지후</a:t>
                      </a:r>
                      <a:r>
                        <a:rPr lang="ko-KR" altLang="en-US" sz="1100" u="none" strike="noStrike" cap="none">
                          <a:solidFill>
                            <a:schemeClr val="tx1"/>
                          </a:solidFill>
                          <a:latin typeface="나눔스퀘어 Bold"/>
                          <a:ea typeface="나눔스퀘어 Bold"/>
                        </a:rPr>
                        <a:t> </a:t>
                      </a:r>
                      <a:r>
                        <a:rPr lang="ko-KR" altLang="en-US" sz="1100" u="none" strike="noStrike" cap="none" err="1">
                          <a:solidFill>
                            <a:schemeClr val="tx1"/>
                          </a:solidFill>
                          <a:latin typeface="나눔스퀘어 Bold"/>
                          <a:ea typeface="나눔스퀘어 Bold"/>
                        </a:rPr>
                        <a:t>성현석</a:t>
                      </a:r>
                      <a:r>
                        <a:rPr lang="ko-KR" altLang="en-US" sz="1100" u="none" strike="noStrike" cap="none">
                          <a:solidFill>
                            <a:schemeClr val="tx1"/>
                          </a:solidFill>
                          <a:latin typeface="나눔스퀘어 Bold"/>
                          <a:ea typeface="나눔스퀘어 Bold"/>
                        </a:rPr>
                        <a:t> </a:t>
                      </a:r>
                      <a:r>
                        <a:rPr lang="ko-KR" altLang="en-US" sz="1100" u="none" strike="noStrike" cap="none" err="1">
                          <a:solidFill>
                            <a:schemeClr val="tx1"/>
                          </a:solidFill>
                          <a:latin typeface="나눔스퀘어 Bold"/>
                          <a:ea typeface="나눔스퀘어 Bold"/>
                        </a:rPr>
                        <a:t>장봉경</a:t>
                      </a:r>
                      <a:r>
                        <a:rPr lang="ko-KR" altLang="en-US" sz="1100" u="none" strike="noStrike" cap="none">
                          <a:solidFill>
                            <a:schemeClr val="tx1"/>
                          </a:solidFill>
                          <a:latin typeface="나눔스퀘어 Bold"/>
                          <a:ea typeface="나눔스퀘어 Bold"/>
                        </a:rPr>
                        <a:t> </a:t>
                      </a:r>
                      <a:r>
                        <a:rPr lang="ko-KR" altLang="en-US" sz="1100" u="none" strike="noStrike" cap="none" err="1">
                          <a:solidFill>
                            <a:schemeClr val="tx1"/>
                          </a:solidFill>
                          <a:latin typeface="나눔스퀘어 Bold"/>
                          <a:ea typeface="나눔스퀘어 Bold"/>
                        </a:rPr>
                        <a:t>장윤재</a:t>
                      </a:r>
                      <a:r>
                        <a:rPr lang="ko-KR" altLang="en-US" sz="1100" u="none" strike="noStrike" cap="none">
                          <a:solidFill>
                            <a:schemeClr val="tx1"/>
                          </a:solidFill>
                          <a:latin typeface="나눔스퀘어 Bold"/>
                          <a:ea typeface="나눔스퀘어 Bold"/>
                        </a:rPr>
                        <a:t> </a:t>
                      </a:r>
                      <a:endParaRPr lang="en-US" altLang="ko-KR" sz="1100" u="none" strike="noStrike" cap="none">
                        <a:solidFill>
                          <a:schemeClr val="tx1"/>
                        </a:solidFill>
                        <a:latin typeface="나눔스퀘어 Bold"/>
                        <a:ea typeface="나눔스퀘어 Bold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17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과제명</a:t>
                      </a:r>
                      <a:endParaRPr sz="1400" b="1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 b="0" i="0" u="none" strike="noStrike" cap="none" noProof="0">
                          <a:solidFill>
                            <a:schemeClr val="tx1"/>
                          </a:solidFill>
                        </a:rPr>
                        <a:t>항공 이용 고객 만족도 예측을 통한 서비스 개선</a:t>
                      </a:r>
                      <a:endParaRPr lang="en-US" altLang="ko-KR" sz="1100" b="0" i="0" u="none" strike="noStrike" cap="none" noProof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136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주요 서비스 내용</a:t>
                      </a:r>
                      <a:br>
                        <a:rPr lang="ko-KR" altLang="en-US" sz="1400" b="1" u="none" strike="noStrike" cap="none">
                          <a:solidFill>
                            <a:srgbClr val="000000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</a:br>
                      <a:r>
                        <a:rPr lang="en-US" altLang="ko-KR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(</a:t>
                      </a: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주요 기능</a:t>
                      </a:r>
                      <a:r>
                        <a:rPr lang="en-US" altLang="ko-KR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, </a:t>
                      </a: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기술 포함</a:t>
                      </a:r>
                      <a:r>
                        <a:rPr lang="en-US" altLang="ko-KR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)</a:t>
                      </a:r>
                      <a:endParaRPr lang="ko-KR" altLang="en-US" sz="1400" b="1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100" b="0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Inflight </a:t>
                      </a:r>
                      <a:r>
                        <a:rPr lang="en-US" altLang="ko-KR" sz="1100" b="0" i="0" u="none" strike="noStrike" cap="none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wifi</a:t>
                      </a:r>
                      <a:r>
                        <a:rPr lang="en-US" altLang="ko-KR" sz="1100" b="0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service </a:t>
                      </a:r>
                      <a:r>
                        <a:rPr lang="ko-KR" altLang="en-US" sz="1100" b="0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기내 와이파이 서비스 </a:t>
                      </a:r>
                      <a:endParaRPr lang="en-US" altLang="ko-KR" sz="1100" b="0" i="0" u="none" strike="noStrike" cap="non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r>
                        <a:rPr lang="en-US" altLang="ko-KR" sz="1100" b="0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Departure/Arrival time convenient </a:t>
                      </a:r>
                      <a:r>
                        <a:rPr lang="ko-KR" altLang="en-US" sz="1100" b="0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출발</a:t>
                      </a:r>
                      <a:r>
                        <a:rPr lang="en-US" altLang="ko-KR" sz="1100" b="0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/</a:t>
                      </a:r>
                      <a:r>
                        <a:rPr lang="ko-KR" altLang="en-US" sz="1100" b="0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도착 시간 편의 서비스</a:t>
                      </a:r>
                      <a:endParaRPr lang="en-US" altLang="ko-KR" sz="1100" b="0" i="0" u="none" strike="noStrike" cap="non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r>
                        <a:rPr lang="en-US" altLang="ko-KR" sz="1100" b="0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Ease of Online booking </a:t>
                      </a:r>
                      <a:r>
                        <a:rPr lang="ko-KR" altLang="en-US" sz="1100" b="0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온라인 예약 편의서비스</a:t>
                      </a:r>
                      <a:endParaRPr lang="en-US" altLang="ko-KR" sz="1100" b="0" i="0" u="none" strike="noStrike" cap="non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r>
                        <a:rPr lang="en-US" altLang="ko-KR" sz="1100" b="0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Gate location </a:t>
                      </a:r>
                      <a:r>
                        <a:rPr lang="ko-KR" altLang="en-US" sz="1100" b="0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탑승 게이트 위치 편의 서비스</a:t>
                      </a:r>
                      <a:endParaRPr lang="en-US" altLang="ko-KR" sz="1100" b="0" i="0" u="none" strike="noStrike" cap="non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r>
                        <a:rPr lang="en-US" altLang="ko-KR" sz="1100" b="0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Food and drink </a:t>
                      </a:r>
                      <a:r>
                        <a:rPr lang="ko-KR" altLang="en-US" sz="1100" b="0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기내 음식 및 음료 제공 서비스 </a:t>
                      </a:r>
                      <a:br>
                        <a:rPr lang="en-US" altLang="ko-KR" sz="1100" b="0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</a:br>
                      <a:r>
                        <a:rPr lang="en-US" altLang="ko-KR" sz="1100" b="0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Online boarding </a:t>
                      </a:r>
                      <a:r>
                        <a:rPr lang="ko-KR" altLang="en-US" sz="1100" b="0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온라인 탑승 수속 서비스</a:t>
                      </a:r>
                      <a:endParaRPr lang="en-US" altLang="ko-KR" sz="1100" b="0" i="0" u="none" strike="noStrike" cap="non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r>
                        <a:rPr lang="en-US" altLang="ko-KR" sz="1100" b="0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Seat comfort </a:t>
                      </a:r>
                      <a:r>
                        <a:rPr lang="ko-KR" altLang="en-US" sz="1100" b="0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좌석 편안함 제공 서비스 </a:t>
                      </a:r>
                      <a:endParaRPr lang="en-US" altLang="ko-KR" sz="1100" b="0" i="0" u="none" strike="noStrike" cap="non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r>
                        <a:rPr lang="en-US" altLang="ko-KR" sz="1100" b="0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Inflight entertainment </a:t>
                      </a:r>
                      <a:r>
                        <a:rPr lang="ko-KR" altLang="en-US" sz="1100" b="0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기내 엔터테인먼트 서비스 </a:t>
                      </a:r>
                      <a:br>
                        <a:rPr lang="en-US" altLang="ko-KR" sz="1100" b="0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</a:br>
                      <a:r>
                        <a:rPr lang="en-US" altLang="ko-KR" sz="1100" b="0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On-board service </a:t>
                      </a:r>
                      <a:r>
                        <a:rPr lang="ko-KR" altLang="en-US" sz="1100" b="0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기내 서비스 </a:t>
                      </a:r>
                      <a:endParaRPr lang="en-US" altLang="ko-KR" sz="1100" b="0" i="0" u="none" strike="noStrike" cap="non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r>
                        <a:rPr lang="en-US" altLang="ko-KR" sz="1100" b="0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Leg room service </a:t>
                      </a:r>
                      <a:r>
                        <a:rPr lang="ko-KR" altLang="en-US" sz="1100" b="0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좌석 다리 공간 제공 서비스 </a:t>
                      </a:r>
                      <a:endParaRPr lang="en-US" altLang="ko-KR" sz="1100" b="0" i="0" u="none" strike="noStrike" cap="non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r>
                        <a:rPr lang="en-US" altLang="ko-KR" sz="1100" b="0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Baggage handling </a:t>
                      </a:r>
                      <a:r>
                        <a:rPr lang="ko-KR" altLang="en-US" sz="1100" b="0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수하물 처리 서비스  </a:t>
                      </a:r>
                      <a:endParaRPr lang="en-US" altLang="ko-KR" sz="1100" b="0" i="0" u="none" strike="noStrike" cap="non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r>
                        <a:rPr lang="en-US" altLang="ko-KR" sz="1100" b="0" i="0" u="none" strike="noStrike" cap="none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Checkin</a:t>
                      </a:r>
                      <a:r>
                        <a:rPr lang="en-US" altLang="ko-KR" sz="1100" b="0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service </a:t>
                      </a:r>
                      <a:r>
                        <a:rPr lang="ko-KR" altLang="en-US" sz="1100" b="0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체크인 서비스</a:t>
                      </a:r>
                      <a:br>
                        <a:rPr lang="en-US" altLang="ko-KR" sz="1100" b="0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</a:br>
                      <a:r>
                        <a:rPr lang="en-US" altLang="ko-KR" sz="1100" b="0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Inflight service </a:t>
                      </a:r>
                      <a:r>
                        <a:rPr lang="ko-KR" altLang="en-US" sz="1100" b="0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기내 서비스</a:t>
                      </a:r>
                      <a:endParaRPr lang="en-US" altLang="ko-KR" sz="1100" b="0" i="0" u="none" strike="noStrike" cap="non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  <a:p>
                      <a:r>
                        <a:rPr lang="en-US" altLang="ko-KR" sz="1100" b="0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Cleanliness </a:t>
                      </a:r>
                      <a:r>
                        <a:rPr lang="ko-KR" altLang="en-US" sz="1100" b="0" i="0" u="none" strike="noStrike" cap="none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기내 청결 서비스</a:t>
                      </a:r>
                      <a:endParaRPr lang="en-US" altLang="ko-KR" sz="1100" b="0" i="0" u="none" strike="noStrike" cap="none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5452572"/>
                  </a:ext>
                </a:extLst>
              </a:tr>
              <a:tr h="28017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목표 고객</a:t>
                      </a:r>
                      <a:r>
                        <a:rPr lang="en-US" altLang="ko-KR" sz="11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(B2B.B2G </a:t>
                      </a:r>
                      <a:r>
                        <a:rPr lang="ko-KR" altLang="en-US" sz="11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대상</a:t>
                      </a:r>
                      <a:r>
                        <a:rPr lang="en-US" altLang="ko-KR" sz="11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)</a:t>
                      </a:r>
                      <a:endParaRPr sz="1400" b="1" u="none" strike="noStrike" cap="none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100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B2B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01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과제 선정 배경</a:t>
                      </a: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None/>
                      </a:pPr>
                      <a:r>
                        <a:rPr lang="ko-KR" altLang="en-US" sz="1100" b="0" i="0" u="none" strike="noStrike" noProof="0">
                          <a:solidFill>
                            <a:schemeClr val="tx1"/>
                          </a:solidFill>
                        </a:rPr>
                        <a:t>설문 만족도에 비해 실제 고객 만족도가 낮았다 </a:t>
                      </a:r>
                      <a:endParaRPr lang="ko-KR" sz="1100" b="0" i="0" u="none" strike="noStrike" noProof="0">
                        <a:solidFill>
                          <a:schemeClr val="tx1"/>
                        </a:solidFill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083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활용 데이터</a:t>
                      </a:r>
                      <a:r>
                        <a:rPr lang="en-US" altLang="ko-KR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(</a:t>
                      </a: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선택</a:t>
                      </a:r>
                      <a:r>
                        <a:rPr lang="en-US" altLang="ko-KR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)</a:t>
                      </a:r>
                      <a:endParaRPr lang="ko-KR" altLang="en-US" sz="1400" b="1" u="none" strike="noStrike" cap="none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SzPts val="1100"/>
                        <a:buNone/>
                      </a:pPr>
                      <a:r>
                        <a:rPr lang="ko-KR" altLang="en-US" sz="1100" b="0" i="0" u="none" strike="noStrike" noProof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만족도 조사 설문 자료 </a:t>
                      </a:r>
                      <a:r>
                        <a:rPr lang="en-US" altLang="ko-KR" sz="1100" b="0" i="0" u="none" strike="noStrike" noProof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(survey.csv,new_test.csv,</a:t>
                      </a:r>
                      <a:r>
                        <a:rPr lang="ko-KR" altLang="en-US" sz="1100" b="0" i="0" u="none" strike="noStrike" noProof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i="0" u="none" strike="noStrike" noProof="0">
                          <a:solidFill>
                            <a:schemeClr val="tx1"/>
                          </a:solidFill>
                        </a:rPr>
                        <a:t>new_train.csv</a:t>
                      </a:r>
                      <a:r>
                        <a:rPr lang="en-US" altLang="ko-KR" sz="1100" b="0" i="0" u="none" strike="noStrike" noProof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</a:rPr>
                        <a:t>)</a:t>
                      </a:r>
                      <a:endParaRPr lang="ko-KR" altLang="en-US" sz="110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나눔스퀘어 Bold" panose="020B0600000101010101" pitchFamily="50" charset="-127"/>
                        <a:ea typeface="나눔스퀘어 Bold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38559410"/>
                  </a:ext>
                </a:extLst>
              </a:tr>
              <a:tr h="8804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기대 효과</a:t>
                      </a:r>
                      <a:r>
                        <a:rPr lang="en-US" altLang="ko-KR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(</a:t>
                      </a:r>
                      <a:r>
                        <a:rPr lang="ko-KR" altLang="en-US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선택</a:t>
                      </a:r>
                      <a:r>
                        <a:rPr lang="en-US" altLang="ko-KR" sz="1400" b="1" u="none" strike="noStrike" cap="none">
                          <a:solidFill>
                            <a:schemeClr val="tx1"/>
                          </a:solidFill>
                          <a:latin typeface="나눔스퀘어 Bold" panose="020B0600000101010101" pitchFamily="50" charset="-127"/>
                          <a:ea typeface="나눔스퀘어 Bold"/>
                        </a:rPr>
                        <a:t>)</a:t>
                      </a:r>
                      <a:endParaRPr lang="ko-KR" altLang="en-US" sz="1400" b="1" u="none" strike="noStrike" cap="none">
                        <a:solidFill>
                          <a:schemeClr val="tx1"/>
                        </a:solidFill>
                        <a:latin typeface="나눔스퀘어 Bold" panose="020B0600000101010101" pitchFamily="50" charset="-127"/>
                        <a:ea typeface="나눔스퀘어 Bold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2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1100">
                          <a:highlight>
                            <a:srgbClr val="FFFFFF"/>
                          </a:highlight>
                        </a:rPr>
                        <a:t>만족도 영향 변수 중 항공 이용 온라인 서비스와 연계된 서비스의 중요도가 높았다</a:t>
                      </a:r>
                      <a:r>
                        <a:rPr lang="en-US" altLang="ko-KR" sz="1100">
                          <a:highlight>
                            <a:srgbClr val="FFFFFF"/>
                          </a:highlight>
                        </a:rPr>
                        <a:t>.</a:t>
                      </a:r>
                      <a:r>
                        <a:rPr lang="ko-KR" altLang="en-US" sz="1100">
                          <a:highlight>
                            <a:srgbClr val="FFFFFF"/>
                          </a:highlight>
                        </a:rPr>
                        <a:t>                                                                                                         </a:t>
                      </a:r>
                      <a:r>
                        <a:rPr lang="en-US" altLang="ko-KR" sz="1100" b="0" i="0" u="none" strike="noStrike" noProof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Segoe UI"/>
                          <a:ea typeface="나눔스퀘어 Bold"/>
                        </a:rPr>
                        <a:t>-&gt; Online service</a:t>
                      </a:r>
                      <a:r>
                        <a:rPr lang="ko-KR" altLang="en-US" sz="1100" b="0" i="0" u="none" strike="noStrike" noProof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Segoe UI"/>
                          <a:ea typeface="나눔스퀘어 Bold"/>
                        </a:rPr>
                        <a:t>에 대한 편의성 관리 강화 및 보수를 진행한다</a:t>
                      </a:r>
                      <a:r>
                        <a:rPr lang="en-US" altLang="ko-KR" sz="1100" b="0" i="0" u="none" strike="noStrike" noProof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Segoe UI"/>
                          <a:ea typeface="나눔스퀘어 Bold"/>
                        </a:rPr>
                        <a:t>.                                                                                                                                                        35</a:t>
                      </a:r>
                      <a:r>
                        <a:rPr lang="ko-KR" altLang="en-US" sz="1100" b="0" i="0" u="none" strike="noStrike" noProof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Segoe UI"/>
                          <a:ea typeface="나눔스퀘어 Bold"/>
                        </a:rPr>
                        <a:t>세 이상의 고객 만족도에서 </a:t>
                      </a:r>
                      <a:r>
                        <a:rPr lang="en-US" altLang="ko-KR" sz="1100" b="0" i="0" u="none" strike="noStrike" noProof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Segoe UI"/>
                          <a:ea typeface="나눔스퀘어 Bold"/>
                        </a:rPr>
                        <a:t>Leg room service</a:t>
                      </a:r>
                      <a:r>
                        <a:rPr lang="ko-KR" altLang="en-US" sz="1100" b="0" i="0" u="none" strike="noStrike" noProof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Segoe UI"/>
                          <a:ea typeface="나눔스퀘어 Bold"/>
                        </a:rPr>
                        <a:t>와 </a:t>
                      </a:r>
                      <a:r>
                        <a:rPr lang="en-US" altLang="ko-KR" sz="1100" b="0" i="0" u="none" strike="noStrike" noProof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Segoe UI"/>
                          <a:ea typeface="나눔스퀘어 Bold"/>
                        </a:rPr>
                        <a:t>Entertainment </a:t>
                      </a:r>
                      <a:r>
                        <a:rPr lang="ko-KR" altLang="en-US" sz="1100" b="0" i="0" u="none" strike="noStrike" noProof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Segoe UI"/>
                          <a:ea typeface="나눔스퀘어 Bold"/>
                        </a:rPr>
                        <a:t>기내 환경 서비스의 영향에서 상관관계를 발견하였다</a:t>
                      </a:r>
                      <a:r>
                        <a:rPr lang="en-US" altLang="ko-KR" sz="1100" b="0" i="0" u="none" strike="noStrike" noProof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Segoe UI"/>
                          <a:ea typeface="나눔스퀘어 Bold"/>
                        </a:rPr>
                        <a:t>.                                                           -&gt; Leg room service</a:t>
                      </a:r>
                      <a:r>
                        <a:rPr lang="ko-KR" altLang="en-US" sz="1100" b="0" i="0" u="none" strike="noStrike" noProof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Segoe UI"/>
                          <a:ea typeface="나눔스퀘어 Bold"/>
                        </a:rPr>
                        <a:t>는 물리적 개선이 어렵기 때문에 </a:t>
                      </a:r>
                      <a:r>
                        <a:rPr lang="en-US" altLang="ko-KR" sz="1100" b="0" i="0" u="none" strike="noStrike" noProof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Segoe UI"/>
                          <a:ea typeface="나눔스퀘어 Bold"/>
                        </a:rPr>
                        <a:t>Entertainment </a:t>
                      </a:r>
                      <a:r>
                        <a:rPr lang="ko-KR" altLang="en-US" sz="1100" b="0" i="0" u="none" strike="noStrike" noProof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Segoe UI"/>
                          <a:ea typeface="나눔스퀘어 Bold"/>
                        </a:rPr>
                        <a:t>서비스 등 기내 환경 서비스의 개선을 목표로 한다</a:t>
                      </a:r>
                      <a:r>
                        <a:rPr lang="en-US" altLang="ko-KR" sz="1100" b="0" i="0" u="none" strike="noStrike" noProof="0">
                          <a:solidFill>
                            <a:schemeClr val="tx1"/>
                          </a:solidFill>
                          <a:highlight>
                            <a:srgbClr val="FFFFFF"/>
                          </a:highlight>
                          <a:latin typeface="Segoe UI"/>
                          <a:ea typeface="나눔스퀘어 Bold"/>
                        </a:rPr>
                        <a:t>. </a:t>
                      </a:r>
                      <a:endParaRPr lang="ko-KR" altLang="en-US" sz="1100" b="0" i="0" u="none" strike="noStrike" noProof="0">
                        <a:solidFill>
                          <a:schemeClr val="tx1"/>
                        </a:solidFill>
                        <a:highlight>
                          <a:srgbClr val="FFFFFF"/>
                        </a:highlight>
                        <a:latin typeface="Segoe UI"/>
                        <a:ea typeface="나눔스퀘어 Bold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766808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5387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>
          <a:extLst>
            <a:ext uri="{FF2B5EF4-FFF2-40B4-BE49-F238E27FC236}">
              <a16:creationId xmlns:a16="http://schemas.microsoft.com/office/drawing/2014/main" id="{FDCAF8DB-1B5A-96A2-4CCE-842A05686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57;p11">
            <a:extLst>
              <a:ext uri="{FF2B5EF4-FFF2-40B4-BE49-F238E27FC236}">
                <a16:creationId xmlns:a16="http://schemas.microsoft.com/office/drawing/2014/main" id="{4BC677DF-B56D-0F00-E884-ED6BDB223FDC}"/>
              </a:ext>
            </a:extLst>
          </p:cNvPr>
          <p:cNvSpPr txBox="1">
            <a:spLocks/>
          </p:cNvSpPr>
          <p:nvPr/>
        </p:nvSpPr>
        <p:spPr>
          <a:xfrm>
            <a:off x="177762" y="227159"/>
            <a:ext cx="6808597" cy="628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23" tIns="56246" rIns="112523" bIns="5624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344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0000"/>
              </a:lnSpc>
            </a:pPr>
            <a:r>
              <a:rPr lang="ko-KR" altLang="en-US" sz="3200" spc="-100">
                <a:ln w="3175">
                  <a:solidFill>
                    <a:srgbClr val="000000">
                      <a:alpha val="30000"/>
                    </a:srgbClr>
                  </a:solidFill>
                </a:ln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/>
                <a:cs typeface="Arial"/>
              </a:rPr>
              <a:t>회의록 1</a:t>
            </a:r>
            <a:endParaRPr lang="ko-KR" altLang="en-US" sz="3200" spc="-100">
              <a:ln w="3175">
                <a:solidFill>
                  <a:schemeClr val="tx1">
                    <a:alpha val="30000"/>
                  </a:schemeClr>
                </a:solidFill>
              </a:ln>
              <a:solidFill>
                <a:srgbClr val="00000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E45870-4D3A-41B1-18C5-24FDEAD0263B}"/>
              </a:ext>
            </a:extLst>
          </p:cNvPr>
          <p:cNvSpPr txBox="1"/>
          <p:nvPr/>
        </p:nvSpPr>
        <p:spPr>
          <a:xfrm>
            <a:off x="176121" y="1081912"/>
            <a:ext cx="11787242" cy="181895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📝 [18</a:t>
            </a:r>
            <a:r>
              <a:rPr lang="ko-KR" altLang="en-US" b="1"/>
              <a:t>조</a:t>
            </a:r>
            <a:r>
              <a:rPr lang="en-US" b="1"/>
              <a:t>]</a:t>
            </a:r>
            <a:r>
              <a:rPr lang="en-US" altLang="ko-KR" b="1"/>
              <a:t> </a:t>
            </a:r>
            <a:r>
              <a:rPr lang="ko-KR" altLang="en-US" b="1" err="1"/>
              <a:t>미니</a:t>
            </a:r>
            <a:r>
              <a:rPr lang="en-US" altLang="ko-KR" b="1"/>
              <a:t> </a:t>
            </a:r>
            <a:r>
              <a:rPr lang="ko-KR" altLang="en-US" b="1" err="1"/>
              <a:t>프로젝트</a:t>
            </a:r>
            <a:r>
              <a:rPr lang="en-US" altLang="ko-KR" b="1"/>
              <a:t> </a:t>
            </a:r>
            <a:r>
              <a:rPr lang="ko-KR" altLang="en-US" b="1"/>
              <a:t>팀</a:t>
            </a:r>
            <a:r>
              <a:rPr lang="en-US" altLang="ko-KR" b="1"/>
              <a:t> </a:t>
            </a:r>
            <a:r>
              <a:rPr lang="ko-KR" altLang="en-US" b="1" err="1"/>
              <a:t>회의록</a:t>
            </a:r>
            <a:endParaRPr lang="en-US" err="1"/>
          </a:p>
          <a:p>
            <a:br>
              <a:rPr lang="en-US"/>
            </a:br>
            <a:endParaRPr lang="en-US"/>
          </a:p>
          <a:p>
            <a:r>
              <a:rPr lang="en-US"/>
              <a:t>  </a:t>
            </a:r>
            <a:r>
              <a:rPr lang="en-US" b="1"/>
              <a:t>■</a:t>
            </a:r>
            <a:r>
              <a:rPr lang="en-US" altLang="ko-KR" b="1"/>
              <a:t> </a:t>
            </a:r>
            <a:r>
              <a:rPr lang="ko-KR" altLang="en-US" b="1" err="1"/>
              <a:t>일시</a:t>
            </a:r>
            <a:r>
              <a:rPr lang="en-US" b="1"/>
              <a:t>:</a:t>
            </a:r>
            <a:r>
              <a:rPr lang="en-US"/>
              <a:t> 2026</a:t>
            </a:r>
            <a:r>
              <a:rPr lang="ko-KR" altLang="en-US"/>
              <a:t>년</a:t>
            </a:r>
            <a:r>
              <a:rPr lang="en-US"/>
              <a:t> 4</a:t>
            </a:r>
            <a:r>
              <a:rPr lang="ko-KR" altLang="en-US"/>
              <a:t>월</a:t>
            </a:r>
            <a:r>
              <a:rPr lang="en-US"/>
              <a:t> 14</a:t>
            </a:r>
            <a:r>
              <a:rPr lang="ko-KR" altLang="en-US"/>
              <a:t>일</a:t>
            </a:r>
            <a:r>
              <a:rPr lang="en-US"/>
              <a:t> (</a:t>
            </a:r>
            <a:r>
              <a:rPr lang="ko-KR" altLang="en-US"/>
              <a:t>화</a:t>
            </a:r>
            <a:r>
              <a:rPr lang="en-US"/>
              <a:t>) 15:17 ~ 17:07 (</a:t>
            </a:r>
            <a:r>
              <a:rPr lang="ko-KR" altLang="en-US"/>
              <a:t>약</a:t>
            </a:r>
            <a:r>
              <a:rPr lang="en-US"/>
              <a:t> 110</a:t>
            </a:r>
            <a:r>
              <a:rPr lang="ko-KR" altLang="en-US"/>
              <a:t>분</a:t>
            </a:r>
            <a:r>
              <a:rPr lang="en-US"/>
              <a:t>)</a:t>
            </a:r>
          </a:p>
          <a:p>
            <a:r>
              <a:rPr lang="en-US"/>
              <a:t>  </a:t>
            </a:r>
            <a:r>
              <a:rPr lang="en-US" b="1"/>
              <a:t>■</a:t>
            </a:r>
            <a:r>
              <a:rPr lang="en-US" altLang="ko-KR" b="1"/>
              <a:t> </a:t>
            </a:r>
            <a:r>
              <a:rPr lang="ko-KR" altLang="en-US" b="1" err="1"/>
              <a:t>회의</a:t>
            </a:r>
            <a:r>
              <a:rPr lang="en-US" altLang="ko-KR" b="1"/>
              <a:t> </a:t>
            </a:r>
            <a:r>
              <a:rPr lang="ko-KR" altLang="en-US" b="1" err="1"/>
              <a:t>목적</a:t>
            </a:r>
            <a:r>
              <a:rPr lang="en-US" b="1"/>
              <a:t>:</a:t>
            </a:r>
            <a:r>
              <a:rPr lang="en-US"/>
              <a:t> '</a:t>
            </a:r>
            <a:r>
              <a:rPr lang="ko-KR" altLang="en-US" err="1"/>
              <a:t>고객</a:t>
            </a:r>
            <a:r>
              <a:rPr lang="en-US" altLang="ko-KR"/>
              <a:t> </a:t>
            </a:r>
            <a:r>
              <a:rPr lang="ko-KR" altLang="en-US" err="1"/>
              <a:t>만족도</a:t>
            </a:r>
            <a:r>
              <a:rPr lang="en-US" altLang="ko-KR"/>
              <a:t> </a:t>
            </a:r>
            <a:r>
              <a:rPr lang="ko-KR" altLang="en-US" err="1"/>
              <a:t>예측을</a:t>
            </a:r>
            <a:r>
              <a:rPr lang="en-US" altLang="ko-KR"/>
              <a:t> </a:t>
            </a:r>
            <a:r>
              <a:rPr lang="ko-KR" altLang="en-US" err="1"/>
              <a:t>통한</a:t>
            </a:r>
            <a:r>
              <a:rPr lang="en-US" altLang="ko-KR"/>
              <a:t> </a:t>
            </a:r>
            <a:r>
              <a:rPr lang="ko-KR" altLang="en-US" err="1"/>
              <a:t>서비스</a:t>
            </a:r>
            <a:r>
              <a:rPr lang="en-US" altLang="ko-KR"/>
              <a:t> </a:t>
            </a:r>
            <a:r>
              <a:rPr lang="ko-KR" altLang="en-US" err="1"/>
              <a:t>개선</a:t>
            </a:r>
            <a:r>
              <a:rPr lang="en-US"/>
              <a:t>'</a:t>
            </a:r>
            <a:r>
              <a:rPr lang="en-US" altLang="ko-KR"/>
              <a:t> </a:t>
            </a:r>
            <a:r>
              <a:rPr lang="ko-KR" altLang="en-US" err="1"/>
              <a:t>데이터</a:t>
            </a:r>
            <a:r>
              <a:rPr lang="en-US" altLang="ko-KR"/>
              <a:t> </a:t>
            </a:r>
            <a:r>
              <a:rPr lang="ko-KR" altLang="en-US" err="1"/>
              <a:t>분석</a:t>
            </a:r>
            <a:r>
              <a:rPr lang="en-US" altLang="ko-KR"/>
              <a:t> </a:t>
            </a:r>
            <a:r>
              <a:rPr lang="ko-KR" altLang="en-US" err="1"/>
              <a:t>미션</a:t>
            </a:r>
            <a:r>
              <a:rPr lang="en-US"/>
              <a:t>(1~8)</a:t>
            </a:r>
            <a:r>
              <a:rPr lang="en-US" altLang="ko-KR"/>
              <a:t> </a:t>
            </a:r>
            <a:r>
              <a:rPr lang="ko-KR" altLang="en-US" err="1"/>
              <a:t>수행</a:t>
            </a:r>
            <a:r>
              <a:rPr lang="en-US" altLang="ko-KR"/>
              <a:t> </a:t>
            </a:r>
            <a:r>
              <a:rPr lang="ko-KR" altLang="en-US" err="1"/>
              <a:t>결과</a:t>
            </a:r>
            <a:r>
              <a:rPr lang="en-US" altLang="ko-KR"/>
              <a:t> </a:t>
            </a:r>
            <a:r>
              <a:rPr lang="ko-KR" altLang="en-US" err="1"/>
              <a:t>공유</a:t>
            </a:r>
            <a:r>
              <a:rPr lang="en-US"/>
              <a:t>,</a:t>
            </a:r>
            <a:r>
              <a:rPr lang="en-US" altLang="ko-KR"/>
              <a:t> </a:t>
            </a:r>
            <a:r>
              <a:rPr lang="ko-KR" altLang="en-US" err="1"/>
              <a:t>코드</a:t>
            </a:r>
            <a:r>
              <a:rPr lang="en-US" altLang="ko-KR"/>
              <a:t> </a:t>
            </a:r>
            <a:r>
              <a:rPr lang="ko-KR" altLang="en-US" err="1"/>
              <a:t>리뷰</a:t>
            </a:r>
            <a:r>
              <a:rPr lang="en-US" altLang="ko-KR"/>
              <a:t> </a:t>
            </a:r>
            <a:r>
              <a:rPr lang="ko-KR" altLang="en-US"/>
              <a:t>및</a:t>
            </a:r>
            <a:r>
              <a:rPr lang="en-US" altLang="ko-KR"/>
              <a:t> </a:t>
            </a:r>
            <a:r>
              <a:rPr lang="ko-KR" altLang="en-US" err="1"/>
              <a:t>익일</a:t>
            </a:r>
            <a:r>
              <a:rPr lang="en-US" altLang="ko-KR"/>
              <a:t> </a:t>
            </a:r>
            <a:r>
              <a:rPr lang="ko-KR" altLang="en-US" err="1"/>
              <a:t>발표</a:t>
            </a:r>
            <a:r>
              <a:rPr lang="en-US" altLang="ko-KR"/>
              <a:t> </a:t>
            </a:r>
            <a:r>
              <a:rPr lang="ko-KR" altLang="en-US" err="1"/>
              <a:t>준비</a:t>
            </a:r>
            <a:endParaRPr lang="en-US" err="1"/>
          </a:p>
          <a:p>
            <a:r>
              <a:rPr lang="en-US"/>
              <a:t>  </a:t>
            </a:r>
            <a:r>
              <a:rPr lang="en-US" b="1"/>
              <a:t>■</a:t>
            </a:r>
            <a:r>
              <a:rPr lang="en-US" altLang="ko-KR" b="1"/>
              <a:t> </a:t>
            </a:r>
            <a:r>
              <a:rPr lang="ko-KR" altLang="en-US" b="1" err="1"/>
              <a:t>진행</a:t>
            </a:r>
            <a:r>
              <a:rPr lang="en-US" b="1"/>
              <a:t>:</a:t>
            </a:r>
            <a:r>
              <a:rPr lang="en-US" altLang="ko-KR"/>
              <a:t> </a:t>
            </a:r>
            <a:r>
              <a:rPr lang="ko-KR" altLang="en-US" err="1"/>
              <a:t>조장</a:t>
            </a:r>
            <a:r>
              <a:rPr lang="en-US"/>
              <a:t> (</a:t>
            </a:r>
            <a:r>
              <a:rPr lang="ko-KR" altLang="en-US" err="1"/>
              <a:t>참석자</a:t>
            </a:r>
            <a:r>
              <a:rPr lang="en-US"/>
              <a:t> 2)</a:t>
            </a:r>
          </a:p>
          <a:p>
            <a:br>
              <a:rPr lang="en-US"/>
            </a:br>
            <a:endParaRPr lang="en-US"/>
          </a:p>
          <a:p>
            <a:r>
              <a:rPr lang="en-US"/>
              <a:t>  ---</a:t>
            </a:r>
          </a:p>
          <a:p>
            <a:br>
              <a:rPr lang="en-US"/>
            </a:br>
            <a:endParaRPr lang="en-US"/>
          </a:p>
          <a:p>
            <a:r>
              <a:rPr lang="en-US"/>
              <a:t>  </a:t>
            </a:r>
            <a:r>
              <a:rPr lang="en-US" b="1"/>
              <a:t>1.</a:t>
            </a:r>
            <a:r>
              <a:rPr lang="en-US" altLang="ko-KR" b="1"/>
              <a:t> </a:t>
            </a:r>
            <a:r>
              <a:rPr lang="ko-KR" altLang="en-US" b="1" err="1"/>
              <a:t>역할</a:t>
            </a:r>
            <a:r>
              <a:rPr lang="en-US" altLang="ko-KR" b="1"/>
              <a:t> </a:t>
            </a:r>
            <a:r>
              <a:rPr lang="ko-KR" altLang="en-US" b="1" err="1"/>
              <a:t>분담</a:t>
            </a:r>
            <a:r>
              <a:rPr lang="en-US" altLang="ko-KR" b="1"/>
              <a:t> </a:t>
            </a:r>
            <a:r>
              <a:rPr lang="ko-KR" altLang="en-US" b="1"/>
              <a:t>및</a:t>
            </a:r>
            <a:r>
              <a:rPr lang="en-US" altLang="ko-KR" b="1"/>
              <a:t> </a:t>
            </a:r>
            <a:r>
              <a:rPr lang="ko-KR" altLang="en-US" b="1" err="1"/>
              <a:t>일정</a:t>
            </a:r>
            <a:r>
              <a:rPr lang="en-US" altLang="ko-KR" b="1"/>
              <a:t> </a:t>
            </a:r>
            <a:r>
              <a:rPr lang="ko-KR" altLang="en-US" b="1" err="1"/>
              <a:t>논의</a:t>
            </a:r>
            <a:r>
              <a:rPr lang="en-US" b="1"/>
              <a:t> (R&amp;R)</a:t>
            </a:r>
            <a:endParaRPr lang="en-US"/>
          </a:p>
          <a:p>
            <a:r>
              <a:rPr lang="en-US"/>
              <a:t>   *</a:t>
            </a:r>
            <a:r>
              <a:rPr lang="en-US" altLang="ko-KR"/>
              <a:t> </a:t>
            </a:r>
            <a:r>
              <a:rPr lang="ko-KR" altLang="en-US" b="1" err="1"/>
              <a:t>조장</a:t>
            </a:r>
            <a:r>
              <a:rPr lang="en-US" b="1"/>
              <a:t>:</a:t>
            </a:r>
            <a:r>
              <a:rPr lang="en-US" altLang="ko-KR"/>
              <a:t> </a:t>
            </a:r>
            <a:r>
              <a:rPr lang="ko-KR" altLang="en-US" err="1"/>
              <a:t>참석자</a:t>
            </a:r>
            <a:r>
              <a:rPr lang="en-US"/>
              <a:t> 2 (</a:t>
            </a:r>
            <a:r>
              <a:rPr lang="ko-KR" altLang="en-US" err="1"/>
              <a:t>자원하여</a:t>
            </a:r>
            <a:r>
              <a:rPr lang="en-US" altLang="ko-KR"/>
              <a:t> </a:t>
            </a:r>
            <a:r>
              <a:rPr lang="ko-KR" altLang="en-US" err="1"/>
              <a:t>담당</a:t>
            </a:r>
            <a:r>
              <a:rPr lang="en-US"/>
              <a:t>)</a:t>
            </a:r>
          </a:p>
          <a:p>
            <a:r>
              <a:rPr lang="en-US"/>
              <a:t>   *</a:t>
            </a:r>
            <a:r>
              <a:rPr lang="en-US" altLang="ko-KR"/>
              <a:t> </a:t>
            </a:r>
            <a:r>
              <a:rPr lang="ko-KR" altLang="en-US" b="1" err="1"/>
              <a:t>발표자</a:t>
            </a:r>
            <a:r>
              <a:rPr lang="en-US" b="1"/>
              <a:t>:</a:t>
            </a:r>
            <a:r>
              <a:rPr lang="en-US"/>
              <a:t> 1</a:t>
            </a:r>
            <a:r>
              <a:rPr lang="ko-KR" altLang="en-US"/>
              <a:t>명으로</a:t>
            </a:r>
            <a:r>
              <a:rPr lang="en-US" altLang="ko-KR"/>
              <a:t> </a:t>
            </a:r>
            <a:r>
              <a:rPr lang="ko-KR" altLang="en-US" err="1"/>
              <a:t>통합</a:t>
            </a:r>
            <a:r>
              <a:rPr lang="en-US" altLang="ko-KR"/>
              <a:t> </a:t>
            </a:r>
            <a:r>
              <a:rPr lang="ko-KR" altLang="en-US" err="1"/>
              <a:t>진행하기로</a:t>
            </a:r>
            <a:r>
              <a:rPr lang="en-US" altLang="ko-KR"/>
              <a:t> </a:t>
            </a:r>
            <a:r>
              <a:rPr lang="ko-KR" altLang="en-US" err="1"/>
              <a:t>결정</a:t>
            </a:r>
            <a:r>
              <a:rPr lang="en-US"/>
              <a:t> (</a:t>
            </a:r>
            <a:r>
              <a:rPr lang="ko-KR" altLang="en-US" err="1"/>
              <a:t>발표</a:t>
            </a:r>
            <a:r>
              <a:rPr lang="en-US" altLang="ko-KR"/>
              <a:t> </a:t>
            </a:r>
            <a:r>
              <a:rPr lang="ko-KR" altLang="en-US" err="1"/>
              <a:t>집중도</a:t>
            </a:r>
            <a:r>
              <a:rPr lang="en-US" altLang="ko-KR"/>
              <a:t> </a:t>
            </a:r>
            <a:r>
              <a:rPr lang="ko-KR" altLang="en-US" err="1"/>
              <a:t>향상</a:t>
            </a:r>
            <a:r>
              <a:rPr lang="en-US" altLang="ko-KR"/>
              <a:t> </a:t>
            </a:r>
            <a:r>
              <a:rPr lang="ko-KR" altLang="en-US" err="1"/>
              <a:t>목적</a:t>
            </a:r>
            <a:r>
              <a:rPr lang="en-US"/>
              <a:t>)</a:t>
            </a:r>
          </a:p>
          <a:p>
            <a:r>
              <a:rPr lang="en-US"/>
              <a:t>   * </a:t>
            </a:r>
            <a:r>
              <a:rPr lang="en-US" b="1"/>
              <a:t>PPT</a:t>
            </a:r>
            <a:r>
              <a:rPr lang="en-US" altLang="ko-KR" b="1"/>
              <a:t> </a:t>
            </a:r>
            <a:r>
              <a:rPr lang="ko-KR" altLang="en-US" b="1" err="1"/>
              <a:t>제작</a:t>
            </a:r>
            <a:r>
              <a:rPr lang="en-US" b="1"/>
              <a:t>:</a:t>
            </a:r>
            <a:r>
              <a:rPr lang="en-US" altLang="ko-KR"/>
              <a:t> </a:t>
            </a:r>
            <a:r>
              <a:rPr lang="ko-KR" altLang="en-US" err="1"/>
              <a:t>강봉경</a:t>
            </a:r>
            <a:r>
              <a:rPr lang="en-US"/>
              <a:t>,</a:t>
            </a:r>
            <a:r>
              <a:rPr lang="en-US" altLang="ko-KR"/>
              <a:t> </a:t>
            </a:r>
            <a:r>
              <a:rPr lang="ko-KR" altLang="en-US" err="1"/>
              <a:t>송영선</a:t>
            </a:r>
            <a:r>
              <a:rPr lang="en-US"/>
              <a:t>,</a:t>
            </a:r>
            <a:r>
              <a:rPr lang="en-US" altLang="ko-KR"/>
              <a:t> </a:t>
            </a:r>
            <a:r>
              <a:rPr lang="ko-KR" altLang="en-US" err="1"/>
              <a:t>상민</a:t>
            </a:r>
            <a:r>
              <a:rPr lang="en-US" altLang="ko-KR"/>
              <a:t> </a:t>
            </a:r>
            <a:r>
              <a:rPr lang="ko-KR" altLang="en-US"/>
              <a:t>등</a:t>
            </a:r>
            <a:r>
              <a:rPr lang="en-US"/>
              <a:t> 3</a:t>
            </a:r>
            <a:r>
              <a:rPr lang="ko-KR" altLang="en-US"/>
              <a:t>인</a:t>
            </a:r>
            <a:r>
              <a:rPr lang="en-US" altLang="ko-KR"/>
              <a:t> </a:t>
            </a:r>
            <a:r>
              <a:rPr lang="ko-KR" altLang="en-US" err="1"/>
              <a:t>공동</a:t>
            </a:r>
            <a:r>
              <a:rPr lang="en-US" altLang="ko-KR"/>
              <a:t> </a:t>
            </a:r>
            <a:r>
              <a:rPr lang="ko-KR" altLang="en-US" err="1"/>
              <a:t>작업</a:t>
            </a:r>
            <a:endParaRPr lang="en-US" err="1"/>
          </a:p>
          <a:p>
            <a:r>
              <a:rPr lang="en-US"/>
              <a:t>   *</a:t>
            </a:r>
            <a:r>
              <a:rPr lang="en-US" altLang="ko-KR"/>
              <a:t> </a:t>
            </a:r>
            <a:r>
              <a:rPr lang="ko-KR" altLang="en-US" b="1" err="1"/>
              <a:t>산출물</a:t>
            </a:r>
            <a:r>
              <a:rPr lang="en-US" altLang="ko-KR" b="1"/>
              <a:t> </a:t>
            </a:r>
            <a:r>
              <a:rPr lang="ko-KR" altLang="en-US" b="1" err="1"/>
              <a:t>검토</a:t>
            </a:r>
            <a:r>
              <a:rPr lang="en-US" altLang="ko-KR" b="1"/>
              <a:t> </a:t>
            </a:r>
            <a:r>
              <a:rPr lang="ko-KR" altLang="en-US" b="1"/>
              <a:t>및</a:t>
            </a:r>
            <a:r>
              <a:rPr lang="en-US" b="1"/>
              <a:t> Q&amp;A</a:t>
            </a:r>
            <a:r>
              <a:rPr lang="en-US" altLang="ko-KR" b="1"/>
              <a:t> </a:t>
            </a:r>
            <a:r>
              <a:rPr lang="ko-KR" altLang="en-US" b="1" err="1"/>
              <a:t>대비</a:t>
            </a:r>
            <a:r>
              <a:rPr lang="en-US" b="1"/>
              <a:t>:</a:t>
            </a:r>
            <a:r>
              <a:rPr lang="en-US" altLang="ko-KR"/>
              <a:t> </a:t>
            </a:r>
            <a:r>
              <a:rPr lang="ko-KR" altLang="en-US" err="1"/>
              <a:t>남경수</a:t>
            </a:r>
            <a:r>
              <a:rPr lang="en-US" altLang="ko-KR"/>
              <a:t> </a:t>
            </a:r>
            <a:r>
              <a:rPr lang="ko-KR" altLang="en-US"/>
              <a:t>외</a:t>
            </a:r>
            <a:r>
              <a:rPr lang="en-US" altLang="ko-KR"/>
              <a:t> </a:t>
            </a:r>
            <a:r>
              <a:rPr lang="ko-KR" altLang="en-US" err="1"/>
              <a:t>인원</a:t>
            </a:r>
            <a:endParaRPr lang="en-US" err="1"/>
          </a:p>
          <a:p>
            <a:r>
              <a:rPr lang="en-US"/>
              <a:t>   *</a:t>
            </a:r>
            <a:r>
              <a:rPr lang="en-US" altLang="ko-KR"/>
              <a:t> </a:t>
            </a:r>
            <a:r>
              <a:rPr lang="ko-KR" altLang="en-US" b="1" err="1"/>
              <a:t>기타</a:t>
            </a:r>
            <a:r>
              <a:rPr lang="en-US" altLang="ko-KR" b="1"/>
              <a:t> </a:t>
            </a:r>
            <a:r>
              <a:rPr lang="ko-KR" altLang="en-US" b="1" err="1"/>
              <a:t>일정</a:t>
            </a:r>
            <a:r>
              <a:rPr lang="en-US" b="1"/>
              <a:t>:</a:t>
            </a:r>
            <a:endParaRPr lang="en-US"/>
          </a:p>
          <a:p>
            <a:r>
              <a:rPr lang="en-US"/>
              <a:t>     *</a:t>
            </a:r>
            <a:r>
              <a:rPr lang="en-US" altLang="ko-KR"/>
              <a:t> </a:t>
            </a:r>
            <a:r>
              <a:rPr lang="ko-KR" altLang="en-US" err="1"/>
              <a:t>내일</a:t>
            </a:r>
            <a:r>
              <a:rPr lang="en-US"/>
              <a:t>(</a:t>
            </a:r>
            <a:r>
              <a:rPr lang="ko-KR" altLang="en-US"/>
              <a:t>수</a:t>
            </a:r>
            <a:r>
              <a:rPr lang="en-US"/>
              <a:t>)</a:t>
            </a:r>
            <a:r>
              <a:rPr lang="en-US" altLang="ko-KR"/>
              <a:t> </a:t>
            </a:r>
            <a:r>
              <a:rPr lang="ko-KR" altLang="en-US" err="1"/>
              <a:t>오프라인</a:t>
            </a:r>
            <a:r>
              <a:rPr lang="en-US" altLang="ko-KR"/>
              <a:t> </a:t>
            </a:r>
            <a:r>
              <a:rPr lang="ko-KR" altLang="en-US" err="1"/>
              <a:t>교육장</a:t>
            </a:r>
            <a:r>
              <a:rPr lang="en-US"/>
              <a:t>(</a:t>
            </a:r>
            <a:r>
              <a:rPr lang="ko-KR" altLang="en-US" err="1"/>
              <a:t>판교</a:t>
            </a:r>
            <a:r>
              <a:rPr lang="en-US"/>
              <a:t>/</a:t>
            </a:r>
            <a:r>
              <a:rPr lang="ko-KR" altLang="en-US" err="1"/>
              <a:t>전농</a:t>
            </a:r>
            <a:r>
              <a:rPr lang="en-US"/>
              <a:t>)</a:t>
            </a:r>
            <a:r>
              <a:rPr lang="en-US" altLang="ko-KR"/>
              <a:t> </a:t>
            </a:r>
            <a:r>
              <a:rPr lang="ko-KR" altLang="en-US" err="1"/>
              <a:t>참석</a:t>
            </a:r>
            <a:r>
              <a:rPr lang="en-US" altLang="ko-KR"/>
              <a:t> </a:t>
            </a:r>
            <a:r>
              <a:rPr lang="ko-KR" altLang="en-US" err="1"/>
              <a:t>여부</a:t>
            </a:r>
            <a:r>
              <a:rPr lang="en-US" altLang="ko-KR"/>
              <a:t> </a:t>
            </a:r>
            <a:r>
              <a:rPr lang="ko-KR" altLang="en-US" err="1"/>
              <a:t>공유</a:t>
            </a:r>
            <a:r>
              <a:rPr lang="en-US"/>
              <a:t>.</a:t>
            </a:r>
          </a:p>
          <a:p>
            <a:r>
              <a:rPr lang="en-US"/>
              <a:t>     *</a:t>
            </a:r>
            <a:r>
              <a:rPr lang="en-US" altLang="ko-KR"/>
              <a:t> </a:t>
            </a:r>
            <a:r>
              <a:rPr lang="ko-KR" altLang="en-US" err="1"/>
              <a:t>거리가</a:t>
            </a:r>
            <a:r>
              <a:rPr lang="en-US" altLang="ko-KR"/>
              <a:t> </a:t>
            </a:r>
            <a:r>
              <a:rPr lang="ko-KR" altLang="en-US"/>
              <a:t>먼</a:t>
            </a:r>
            <a:r>
              <a:rPr lang="en-US" altLang="ko-KR"/>
              <a:t> </a:t>
            </a:r>
            <a:r>
              <a:rPr lang="ko-KR" altLang="en-US" err="1"/>
              <a:t>인원</a:t>
            </a:r>
            <a:r>
              <a:rPr lang="en-US"/>
              <a:t>(</a:t>
            </a:r>
            <a:r>
              <a:rPr lang="ko-KR" altLang="en-US" err="1"/>
              <a:t>김포</a:t>
            </a:r>
            <a:r>
              <a:rPr lang="en-US" altLang="ko-KR"/>
              <a:t> </a:t>
            </a:r>
            <a:r>
              <a:rPr lang="ko-KR" altLang="en-US" err="1"/>
              <a:t>거주</a:t>
            </a:r>
            <a:r>
              <a:rPr lang="en-US" altLang="ko-KR"/>
              <a:t> </a:t>
            </a:r>
            <a:r>
              <a:rPr lang="ko-KR" altLang="en-US"/>
              <a:t>등</a:t>
            </a:r>
            <a:r>
              <a:rPr lang="en-US"/>
              <a:t>)</a:t>
            </a:r>
            <a:r>
              <a:rPr lang="ko-KR" altLang="en-US"/>
              <a:t>은</a:t>
            </a:r>
            <a:r>
              <a:rPr lang="en-US" altLang="ko-KR"/>
              <a:t> </a:t>
            </a:r>
            <a:r>
              <a:rPr lang="ko-KR" altLang="en-US" err="1"/>
              <a:t>매니저</a:t>
            </a:r>
            <a:r>
              <a:rPr lang="en-US" altLang="ko-KR"/>
              <a:t> </a:t>
            </a:r>
            <a:r>
              <a:rPr lang="ko-KR" altLang="en-US" err="1"/>
              <a:t>합의</a:t>
            </a:r>
            <a:r>
              <a:rPr lang="en-US" altLang="ko-KR"/>
              <a:t> </a:t>
            </a:r>
            <a:r>
              <a:rPr lang="ko-KR" altLang="en-US" err="1"/>
              <a:t>하에</a:t>
            </a:r>
            <a:r>
              <a:rPr lang="en-US" altLang="ko-KR"/>
              <a:t> </a:t>
            </a:r>
            <a:r>
              <a:rPr lang="ko-KR" altLang="en-US" err="1"/>
              <a:t>온라인으로</a:t>
            </a:r>
            <a:r>
              <a:rPr lang="en-US" altLang="ko-KR"/>
              <a:t> </a:t>
            </a:r>
            <a:r>
              <a:rPr lang="ko-KR" altLang="en-US" err="1"/>
              <a:t>참석하여</a:t>
            </a:r>
            <a:r>
              <a:rPr lang="en-US" altLang="ko-KR"/>
              <a:t> </a:t>
            </a:r>
            <a:r>
              <a:rPr lang="ko-KR" altLang="en-US" err="1"/>
              <a:t>미팅</a:t>
            </a:r>
            <a:r>
              <a:rPr lang="en-US" altLang="ko-KR"/>
              <a:t> </a:t>
            </a:r>
            <a:r>
              <a:rPr lang="ko-KR" altLang="en-US"/>
              <a:t>및</a:t>
            </a:r>
            <a:r>
              <a:rPr lang="en-US" altLang="ko-KR"/>
              <a:t> </a:t>
            </a:r>
            <a:r>
              <a:rPr lang="ko-KR" altLang="en-US" err="1"/>
              <a:t>작업에</a:t>
            </a:r>
            <a:r>
              <a:rPr lang="en-US" altLang="ko-KR"/>
              <a:t> </a:t>
            </a:r>
            <a:r>
              <a:rPr lang="ko-KR" altLang="en-US" err="1"/>
              <a:t>기여하기로</a:t>
            </a:r>
            <a:r>
              <a:rPr lang="en-US" altLang="ko-KR"/>
              <a:t> </a:t>
            </a:r>
            <a:r>
              <a:rPr lang="ko-KR" altLang="en-US"/>
              <a:t>함</a:t>
            </a:r>
            <a:r>
              <a:rPr lang="en-US"/>
              <a:t>.</a:t>
            </a:r>
          </a:p>
          <a:p>
            <a:br>
              <a:rPr lang="en-US"/>
            </a:br>
            <a:endParaRPr lang="en-US"/>
          </a:p>
          <a:p>
            <a:r>
              <a:rPr lang="en-US"/>
              <a:t>  </a:t>
            </a:r>
            <a:r>
              <a:rPr lang="en-US" b="1"/>
              <a:t>2.</a:t>
            </a:r>
            <a:r>
              <a:rPr lang="en-US" altLang="ko-KR" b="1"/>
              <a:t> </a:t>
            </a:r>
            <a:r>
              <a:rPr lang="ko-KR" altLang="en-US" b="1" err="1"/>
              <a:t>데이터</a:t>
            </a:r>
            <a:r>
              <a:rPr lang="en-US" altLang="ko-KR" b="1"/>
              <a:t> </a:t>
            </a:r>
            <a:r>
              <a:rPr lang="ko-KR" altLang="en-US" b="1" err="1"/>
              <a:t>탐색</a:t>
            </a:r>
            <a:r>
              <a:rPr lang="en-US" altLang="ko-KR" b="1"/>
              <a:t> </a:t>
            </a:r>
            <a:r>
              <a:rPr lang="ko-KR" altLang="en-US" b="1"/>
              <a:t>및</a:t>
            </a:r>
            <a:r>
              <a:rPr lang="en-US" altLang="ko-KR" b="1"/>
              <a:t> </a:t>
            </a:r>
            <a:r>
              <a:rPr lang="ko-KR" altLang="en-US" b="1" err="1"/>
              <a:t>전처리</a:t>
            </a:r>
            <a:r>
              <a:rPr lang="en-US" b="1"/>
              <a:t> (Mission 1~2)</a:t>
            </a:r>
            <a:endParaRPr lang="en-US"/>
          </a:p>
          <a:p>
            <a:r>
              <a:rPr lang="en-US"/>
              <a:t>   *</a:t>
            </a:r>
            <a:r>
              <a:rPr lang="en-US" altLang="ko-KR"/>
              <a:t> </a:t>
            </a:r>
            <a:r>
              <a:rPr lang="ko-KR" altLang="en-US" b="1" err="1"/>
              <a:t>결측치</a:t>
            </a:r>
            <a:r>
              <a:rPr lang="en-US" b="1"/>
              <a:t>(Missing Value)</a:t>
            </a:r>
            <a:r>
              <a:rPr lang="en-US" altLang="ko-KR" b="1"/>
              <a:t> </a:t>
            </a:r>
            <a:r>
              <a:rPr lang="ko-KR" altLang="en-US" b="1" err="1"/>
              <a:t>처리</a:t>
            </a:r>
            <a:r>
              <a:rPr lang="en-US" b="1"/>
              <a:t>:</a:t>
            </a:r>
            <a:endParaRPr lang="en-US"/>
          </a:p>
          <a:p>
            <a:r>
              <a:rPr lang="en-US"/>
              <a:t>     *</a:t>
            </a:r>
            <a:r>
              <a:rPr lang="en-US" altLang="ko-KR"/>
              <a:t> </a:t>
            </a:r>
            <a:r>
              <a:rPr lang="ko-KR" altLang="en-US" err="1"/>
              <a:t>수치형</a:t>
            </a:r>
            <a:r>
              <a:rPr lang="en-US" altLang="ko-KR"/>
              <a:t> </a:t>
            </a:r>
            <a:r>
              <a:rPr lang="ko-KR" altLang="en-US" err="1"/>
              <a:t>데이터는</a:t>
            </a:r>
            <a:r>
              <a:rPr lang="en-US" altLang="ko-KR"/>
              <a:t> </a:t>
            </a:r>
            <a:r>
              <a:rPr lang="ko-KR" altLang="en-US" err="1"/>
              <a:t>중앙값</a:t>
            </a:r>
            <a:r>
              <a:rPr lang="en-US"/>
              <a:t>(Median),</a:t>
            </a:r>
            <a:r>
              <a:rPr lang="en-US" altLang="ko-KR"/>
              <a:t> </a:t>
            </a:r>
            <a:r>
              <a:rPr lang="ko-KR" altLang="en-US" err="1"/>
              <a:t>범주형</a:t>
            </a:r>
            <a:r>
              <a:rPr lang="en-US" altLang="ko-KR"/>
              <a:t> </a:t>
            </a:r>
            <a:r>
              <a:rPr lang="ko-KR" altLang="en-US" err="1"/>
              <a:t>데이터는</a:t>
            </a:r>
            <a:r>
              <a:rPr lang="en-US" altLang="ko-KR"/>
              <a:t> </a:t>
            </a:r>
            <a:r>
              <a:rPr lang="ko-KR" altLang="en-US" err="1"/>
              <a:t>최빈값</a:t>
            </a:r>
            <a:r>
              <a:rPr lang="en-US"/>
              <a:t>(Mode)</a:t>
            </a:r>
            <a:r>
              <a:rPr lang="ko-KR" altLang="en-US" err="1"/>
              <a:t>으로</a:t>
            </a:r>
            <a:r>
              <a:rPr lang="en-US" altLang="ko-KR"/>
              <a:t> </a:t>
            </a:r>
            <a:r>
              <a:rPr lang="ko-KR" altLang="en-US" err="1"/>
              <a:t>대체함</a:t>
            </a:r>
            <a:r>
              <a:rPr lang="en-US"/>
              <a:t>.</a:t>
            </a:r>
          </a:p>
          <a:p>
            <a:r>
              <a:rPr lang="en-US"/>
              <a:t>     * Inflight </a:t>
            </a:r>
            <a:r>
              <a:rPr lang="en-US" err="1"/>
              <a:t>wifi</a:t>
            </a:r>
            <a:r>
              <a:rPr lang="en-US"/>
              <a:t>, Seat comfort</a:t>
            </a:r>
            <a:r>
              <a:rPr lang="en-US" altLang="ko-KR"/>
              <a:t> </a:t>
            </a:r>
            <a:r>
              <a:rPr lang="ko-KR" altLang="en-US"/>
              <a:t>등</a:t>
            </a:r>
            <a:r>
              <a:rPr lang="en-US" altLang="ko-KR"/>
              <a:t> </a:t>
            </a:r>
            <a:r>
              <a:rPr lang="ko-KR" altLang="en-US" err="1"/>
              <a:t>결측치가</a:t>
            </a:r>
            <a:r>
              <a:rPr lang="en-US" altLang="ko-KR"/>
              <a:t> </a:t>
            </a:r>
            <a:r>
              <a:rPr lang="ko-KR" altLang="en-US" err="1"/>
              <a:t>지나치게</a:t>
            </a:r>
            <a:r>
              <a:rPr lang="en-US" altLang="ko-KR"/>
              <a:t> </a:t>
            </a:r>
            <a:r>
              <a:rPr lang="ko-KR" altLang="en-US" err="1"/>
              <a:t>많은</a:t>
            </a:r>
            <a:r>
              <a:rPr lang="en-US" altLang="ko-KR"/>
              <a:t> </a:t>
            </a:r>
            <a:r>
              <a:rPr lang="ko-KR" altLang="en-US" err="1"/>
              <a:t>변수나</a:t>
            </a:r>
            <a:r>
              <a:rPr lang="en-US" altLang="ko-KR"/>
              <a:t> </a:t>
            </a:r>
            <a:r>
              <a:rPr lang="ko-KR" altLang="en-US" err="1"/>
              <a:t>의미</a:t>
            </a:r>
            <a:r>
              <a:rPr lang="en-US" altLang="ko-KR"/>
              <a:t> </a:t>
            </a:r>
            <a:r>
              <a:rPr lang="ko-KR" altLang="en-US" err="1"/>
              <a:t>없는</a:t>
            </a:r>
            <a:r>
              <a:rPr lang="en-US" altLang="ko-KR"/>
              <a:t> </a:t>
            </a:r>
            <a:r>
              <a:rPr lang="ko-KR" altLang="en-US" err="1"/>
              <a:t>변수</a:t>
            </a:r>
            <a:r>
              <a:rPr lang="en-US"/>
              <a:t>(ID, Index)</a:t>
            </a:r>
            <a:r>
              <a:rPr lang="ko-KR" altLang="en-US"/>
              <a:t>는</a:t>
            </a:r>
            <a:r>
              <a:rPr lang="en-US" altLang="ko-KR"/>
              <a:t> </a:t>
            </a:r>
            <a:r>
              <a:rPr lang="ko-KR" altLang="en-US" err="1"/>
              <a:t>모델</a:t>
            </a:r>
            <a:r>
              <a:rPr lang="en-US" altLang="ko-KR"/>
              <a:t> </a:t>
            </a:r>
            <a:r>
              <a:rPr lang="ko-KR" altLang="en-US" err="1"/>
              <a:t>성능을</a:t>
            </a:r>
            <a:r>
              <a:rPr lang="en-US" altLang="ko-KR"/>
              <a:t> </a:t>
            </a:r>
            <a:r>
              <a:rPr lang="ko-KR" altLang="en-US" err="1"/>
              <a:t>위해</a:t>
            </a:r>
            <a:r>
              <a:rPr lang="en-US" altLang="ko-KR"/>
              <a:t> </a:t>
            </a:r>
            <a:r>
              <a:rPr lang="ko-KR" altLang="en-US" err="1"/>
              <a:t>제거</a:t>
            </a:r>
            <a:r>
              <a:rPr lang="en-US"/>
              <a:t>.</a:t>
            </a:r>
          </a:p>
          <a:p>
            <a:r>
              <a:rPr lang="en-US"/>
              <a:t>   *</a:t>
            </a:r>
            <a:r>
              <a:rPr lang="en-US" altLang="ko-KR"/>
              <a:t> </a:t>
            </a:r>
            <a:r>
              <a:rPr lang="ko-KR" altLang="en-US" b="1" err="1"/>
              <a:t>타겟</a:t>
            </a:r>
            <a:r>
              <a:rPr lang="en-US" altLang="ko-KR" b="1"/>
              <a:t> </a:t>
            </a:r>
            <a:r>
              <a:rPr lang="ko-KR" altLang="en-US" b="1" err="1"/>
              <a:t>변수</a:t>
            </a:r>
            <a:r>
              <a:rPr lang="en-US" altLang="ko-KR" b="1"/>
              <a:t> </a:t>
            </a:r>
            <a:r>
              <a:rPr lang="ko-KR" altLang="en-US" b="1" err="1"/>
              <a:t>변환</a:t>
            </a:r>
            <a:r>
              <a:rPr lang="en-US" b="1"/>
              <a:t>:</a:t>
            </a:r>
            <a:r>
              <a:rPr lang="en-US"/>
              <a:t> satisfaction</a:t>
            </a:r>
            <a:r>
              <a:rPr lang="en-US" altLang="ko-KR"/>
              <a:t> </a:t>
            </a:r>
            <a:r>
              <a:rPr lang="ko-KR" altLang="en-US" err="1"/>
              <a:t>변수를</a:t>
            </a:r>
            <a:r>
              <a:rPr lang="en-US" altLang="ko-KR"/>
              <a:t> </a:t>
            </a:r>
            <a:r>
              <a:rPr lang="ko-KR" altLang="en-US" err="1"/>
              <a:t>이진</a:t>
            </a:r>
            <a:r>
              <a:rPr lang="en-US" altLang="ko-KR"/>
              <a:t> </a:t>
            </a:r>
            <a:r>
              <a:rPr lang="ko-KR" altLang="en-US" err="1"/>
              <a:t>분류를</a:t>
            </a:r>
            <a:r>
              <a:rPr lang="en-US" altLang="ko-KR"/>
              <a:t> </a:t>
            </a:r>
            <a:r>
              <a:rPr lang="ko-KR" altLang="en-US" err="1"/>
              <a:t>위해</a:t>
            </a:r>
            <a:r>
              <a:rPr lang="en-US" altLang="ko-KR"/>
              <a:t> </a:t>
            </a:r>
            <a:r>
              <a:rPr lang="ko-KR" altLang="en-US" err="1"/>
              <a:t>만족</a:t>
            </a:r>
            <a:r>
              <a:rPr lang="en-US"/>
              <a:t>(1),</a:t>
            </a:r>
            <a:r>
              <a:rPr lang="en-US" altLang="ko-KR"/>
              <a:t> </a:t>
            </a:r>
            <a:r>
              <a:rPr lang="ko-KR" altLang="en-US" err="1"/>
              <a:t>불만족</a:t>
            </a:r>
            <a:r>
              <a:rPr lang="en-US"/>
              <a:t>(0)</a:t>
            </a:r>
            <a:r>
              <a:rPr lang="ko-KR" altLang="en-US" err="1"/>
              <a:t>으로</a:t>
            </a:r>
            <a:r>
              <a:rPr lang="en-US" altLang="ko-KR"/>
              <a:t> </a:t>
            </a:r>
            <a:r>
              <a:rPr lang="ko-KR" altLang="en-US" err="1"/>
              <a:t>매핑</a:t>
            </a:r>
            <a:r>
              <a:rPr lang="en-US"/>
              <a:t>.</a:t>
            </a:r>
          </a:p>
          <a:p>
            <a:r>
              <a:rPr lang="en-US"/>
              <a:t>   *</a:t>
            </a:r>
            <a:r>
              <a:rPr lang="en-US" altLang="ko-KR"/>
              <a:t> </a:t>
            </a:r>
            <a:r>
              <a:rPr lang="ko-KR" altLang="en-US" b="1" err="1"/>
              <a:t>데이터</a:t>
            </a:r>
            <a:r>
              <a:rPr lang="en-US" altLang="ko-KR" b="1"/>
              <a:t> </a:t>
            </a:r>
            <a:r>
              <a:rPr lang="ko-KR" altLang="en-US" b="1" err="1"/>
              <a:t>인사이트</a:t>
            </a:r>
            <a:r>
              <a:rPr lang="en-US" altLang="ko-KR" b="1"/>
              <a:t> </a:t>
            </a:r>
            <a:r>
              <a:rPr lang="ko-KR" altLang="en-US" b="1" err="1"/>
              <a:t>도출</a:t>
            </a:r>
            <a:r>
              <a:rPr lang="en-US" b="1"/>
              <a:t> (</a:t>
            </a:r>
            <a:r>
              <a:rPr lang="ko-KR" altLang="en-US" b="1" err="1"/>
              <a:t>단변량</a:t>
            </a:r>
            <a:r>
              <a:rPr lang="en-US" b="1"/>
              <a:t>/</a:t>
            </a:r>
            <a:r>
              <a:rPr lang="ko-KR" altLang="en-US" b="1" err="1"/>
              <a:t>이변량</a:t>
            </a:r>
            <a:r>
              <a:rPr lang="en-US" altLang="ko-KR" b="1"/>
              <a:t> </a:t>
            </a:r>
            <a:r>
              <a:rPr lang="ko-KR" altLang="en-US" b="1" err="1"/>
              <a:t>분석</a:t>
            </a:r>
            <a:r>
              <a:rPr lang="en-US" b="1"/>
              <a:t>):</a:t>
            </a:r>
            <a:endParaRPr lang="en-US"/>
          </a:p>
          <a:p>
            <a:r>
              <a:rPr lang="en-US"/>
              <a:t>     *</a:t>
            </a:r>
            <a:r>
              <a:rPr lang="en-US" altLang="ko-KR"/>
              <a:t> </a:t>
            </a:r>
            <a:r>
              <a:rPr lang="ko-KR" altLang="en-US" b="1" err="1"/>
              <a:t>비행</a:t>
            </a:r>
            <a:r>
              <a:rPr lang="en-US" altLang="ko-KR" b="1"/>
              <a:t> </a:t>
            </a:r>
            <a:r>
              <a:rPr lang="ko-KR" altLang="en-US" b="1" err="1"/>
              <a:t>거리</a:t>
            </a:r>
            <a:r>
              <a:rPr lang="en-US" b="1"/>
              <a:t>:</a:t>
            </a:r>
            <a:r>
              <a:rPr lang="en-US" altLang="ko-KR"/>
              <a:t> </a:t>
            </a:r>
            <a:r>
              <a:rPr lang="ko-KR" altLang="en-US" err="1"/>
              <a:t>대부분</a:t>
            </a:r>
            <a:r>
              <a:rPr lang="en-US"/>
              <a:t> 2,000</a:t>
            </a:r>
            <a:r>
              <a:rPr lang="en-US" altLang="ko-KR"/>
              <a:t> </a:t>
            </a:r>
            <a:r>
              <a:rPr lang="ko-KR" altLang="en-US" err="1"/>
              <a:t>이하에</a:t>
            </a:r>
            <a:r>
              <a:rPr lang="en-US" altLang="ko-KR"/>
              <a:t> </a:t>
            </a:r>
            <a:r>
              <a:rPr lang="ko-KR" altLang="en-US" err="1"/>
              <a:t>분포</a:t>
            </a:r>
            <a:r>
              <a:rPr lang="en-US"/>
              <a:t>.</a:t>
            </a:r>
          </a:p>
          <a:p>
            <a:r>
              <a:rPr lang="en-US"/>
              <a:t>     *</a:t>
            </a:r>
            <a:r>
              <a:rPr lang="en-US" altLang="ko-KR"/>
              <a:t> </a:t>
            </a:r>
            <a:r>
              <a:rPr lang="ko-KR" altLang="en-US" b="1" err="1"/>
              <a:t>클래스</a:t>
            </a:r>
            <a:r>
              <a:rPr lang="en-US" altLang="ko-KR" b="1"/>
              <a:t> </a:t>
            </a:r>
            <a:r>
              <a:rPr lang="ko-KR" altLang="en-US" b="1"/>
              <a:t>및</a:t>
            </a:r>
            <a:r>
              <a:rPr lang="en-US" altLang="ko-KR" b="1"/>
              <a:t> </a:t>
            </a:r>
            <a:r>
              <a:rPr lang="ko-KR" altLang="en-US" b="1" err="1"/>
              <a:t>목적</a:t>
            </a:r>
            <a:r>
              <a:rPr lang="en-US" b="1"/>
              <a:t>:</a:t>
            </a:r>
            <a:r>
              <a:rPr lang="en-US" altLang="ko-KR"/>
              <a:t> </a:t>
            </a:r>
            <a:r>
              <a:rPr lang="ko-KR" altLang="en-US" err="1"/>
              <a:t>비즈니스</a:t>
            </a:r>
            <a:r>
              <a:rPr lang="en-US" altLang="ko-KR"/>
              <a:t> </a:t>
            </a:r>
            <a:r>
              <a:rPr lang="ko-KR" altLang="en-US" err="1"/>
              <a:t>클래스</a:t>
            </a:r>
            <a:r>
              <a:rPr lang="en-US" altLang="ko-KR"/>
              <a:t> </a:t>
            </a:r>
            <a:r>
              <a:rPr lang="ko-KR" altLang="en-US" err="1"/>
              <a:t>이용객이</a:t>
            </a:r>
            <a:r>
              <a:rPr lang="en-US" altLang="ko-KR"/>
              <a:t> </a:t>
            </a:r>
            <a:r>
              <a:rPr lang="ko-KR" altLang="en-US" err="1"/>
              <a:t>다수이며</a:t>
            </a:r>
            <a:r>
              <a:rPr lang="en-US"/>
              <a:t>, '</a:t>
            </a:r>
            <a:r>
              <a:rPr lang="ko-KR" altLang="en-US" err="1"/>
              <a:t>개인</a:t>
            </a:r>
            <a:r>
              <a:rPr lang="en-US" altLang="ko-KR"/>
              <a:t> </a:t>
            </a:r>
            <a:r>
              <a:rPr lang="ko-KR" altLang="en-US" err="1"/>
              <a:t>여행</a:t>
            </a:r>
            <a:r>
              <a:rPr lang="en-US" altLang="ko-KR"/>
              <a:t> </a:t>
            </a:r>
            <a:r>
              <a:rPr lang="ko-KR" altLang="en-US" err="1"/>
              <a:t>목적</a:t>
            </a:r>
            <a:r>
              <a:rPr lang="en-US"/>
              <a:t>(Personal Travel)'</a:t>
            </a:r>
            <a:r>
              <a:rPr lang="en-US" altLang="ko-KR"/>
              <a:t> </a:t>
            </a:r>
            <a:r>
              <a:rPr lang="ko-KR" altLang="en-US" err="1"/>
              <a:t>고객의</a:t>
            </a:r>
            <a:r>
              <a:rPr lang="en-US" altLang="ko-KR"/>
              <a:t> </a:t>
            </a:r>
            <a:r>
              <a:rPr lang="ko-KR" altLang="en-US" err="1"/>
              <a:t>불만족</a:t>
            </a:r>
            <a:r>
              <a:rPr lang="en-US" altLang="ko-KR"/>
              <a:t> </a:t>
            </a:r>
            <a:r>
              <a:rPr lang="ko-KR" altLang="en-US" err="1"/>
              <a:t>비율이</a:t>
            </a:r>
            <a:r>
              <a:rPr lang="en-US" altLang="ko-KR"/>
              <a:t> </a:t>
            </a:r>
            <a:r>
              <a:rPr lang="ko-KR" altLang="en-US" err="1"/>
              <a:t>비즈니스</a:t>
            </a:r>
            <a:r>
              <a:rPr lang="en-US" altLang="ko-KR"/>
              <a:t> </a:t>
            </a:r>
            <a:r>
              <a:rPr lang="ko-KR" altLang="en-US" err="1"/>
              <a:t>목적</a:t>
            </a:r>
            <a:r>
              <a:rPr lang="en-US" altLang="ko-KR"/>
              <a:t> </a:t>
            </a:r>
            <a:r>
              <a:rPr lang="ko-KR" altLang="en-US" err="1"/>
              <a:t>고객보다</a:t>
            </a:r>
            <a:r>
              <a:rPr lang="en-US" altLang="ko-KR"/>
              <a:t> </a:t>
            </a:r>
            <a:r>
              <a:rPr lang="ko-KR" altLang="en-US" err="1"/>
              <a:t>상대적으로</a:t>
            </a:r>
            <a:r>
              <a:rPr lang="en-US" altLang="ko-KR"/>
              <a:t> </a:t>
            </a:r>
            <a:r>
              <a:rPr lang="ko-KR" altLang="en-US" err="1"/>
              <a:t>높음</a:t>
            </a:r>
            <a:r>
              <a:rPr lang="en-US"/>
              <a:t>.</a:t>
            </a:r>
          </a:p>
          <a:p>
            <a:r>
              <a:rPr lang="en-US"/>
              <a:t>     *</a:t>
            </a:r>
            <a:r>
              <a:rPr lang="en-US" altLang="ko-KR"/>
              <a:t> </a:t>
            </a:r>
            <a:r>
              <a:rPr lang="ko-KR" altLang="en-US" b="1" err="1"/>
              <a:t>설문</a:t>
            </a:r>
            <a:r>
              <a:rPr lang="en-US" altLang="ko-KR" b="1"/>
              <a:t> </a:t>
            </a:r>
            <a:r>
              <a:rPr lang="ko-KR" altLang="en-US" b="1" err="1"/>
              <a:t>응답</a:t>
            </a:r>
            <a:r>
              <a:rPr lang="en-US" altLang="ko-KR" b="1"/>
              <a:t> </a:t>
            </a:r>
            <a:r>
              <a:rPr lang="ko-KR" altLang="en-US" b="1" err="1"/>
              <a:t>경향</a:t>
            </a:r>
            <a:r>
              <a:rPr lang="en-US" b="1"/>
              <a:t>:</a:t>
            </a:r>
            <a:r>
              <a:rPr lang="en-US" altLang="ko-KR"/>
              <a:t> </a:t>
            </a:r>
            <a:r>
              <a:rPr lang="ko-KR" altLang="en-US" err="1"/>
              <a:t>극단적인</a:t>
            </a:r>
            <a:r>
              <a:rPr lang="en-US" altLang="ko-KR"/>
              <a:t> </a:t>
            </a:r>
            <a:r>
              <a:rPr lang="ko-KR" altLang="en-US" err="1"/>
              <a:t>평가</a:t>
            </a:r>
            <a:r>
              <a:rPr lang="en-US"/>
              <a:t>(1</a:t>
            </a:r>
            <a:r>
              <a:rPr lang="ko-KR" altLang="en-US"/>
              <a:t>점</a:t>
            </a:r>
            <a:r>
              <a:rPr lang="en-US" altLang="ko-KR"/>
              <a:t> </a:t>
            </a:r>
            <a:r>
              <a:rPr lang="ko-KR" altLang="en-US" err="1"/>
              <a:t>혹은</a:t>
            </a:r>
            <a:r>
              <a:rPr lang="en-US"/>
              <a:t> 5</a:t>
            </a:r>
            <a:r>
              <a:rPr lang="ko-KR" altLang="en-US"/>
              <a:t>점</a:t>
            </a:r>
            <a:r>
              <a:rPr lang="en-US"/>
              <a:t>)</a:t>
            </a:r>
            <a:r>
              <a:rPr lang="ko-KR" altLang="en-US"/>
              <a:t>를</a:t>
            </a:r>
            <a:r>
              <a:rPr lang="en-US" altLang="ko-KR"/>
              <a:t> </a:t>
            </a:r>
            <a:r>
              <a:rPr lang="ko-KR" altLang="en-US" err="1"/>
              <a:t>하는</a:t>
            </a:r>
            <a:r>
              <a:rPr lang="en-US" altLang="ko-KR"/>
              <a:t> </a:t>
            </a:r>
            <a:r>
              <a:rPr lang="ko-KR" altLang="en-US" err="1"/>
              <a:t>고객들이</a:t>
            </a:r>
            <a:r>
              <a:rPr lang="en-US" altLang="ko-KR"/>
              <a:t> </a:t>
            </a:r>
            <a:r>
              <a:rPr lang="ko-KR" altLang="en-US" err="1"/>
              <a:t>설문에</a:t>
            </a:r>
            <a:r>
              <a:rPr lang="en-US" altLang="ko-KR"/>
              <a:t> </a:t>
            </a:r>
            <a:r>
              <a:rPr lang="ko-KR" altLang="en-US"/>
              <a:t>더</a:t>
            </a:r>
            <a:r>
              <a:rPr lang="en-US" altLang="ko-KR"/>
              <a:t> </a:t>
            </a:r>
            <a:r>
              <a:rPr lang="ko-KR" altLang="en-US" err="1"/>
              <a:t>적극적으로</a:t>
            </a:r>
            <a:r>
              <a:rPr lang="en-US" altLang="ko-KR"/>
              <a:t> </a:t>
            </a:r>
            <a:r>
              <a:rPr lang="ko-KR" altLang="en-US" err="1"/>
              <a:t>응답하는</a:t>
            </a:r>
            <a:r>
              <a:rPr lang="en-US" altLang="ko-KR"/>
              <a:t> </a:t>
            </a:r>
            <a:r>
              <a:rPr lang="ko-KR" altLang="en-US" err="1"/>
              <a:t>경향</a:t>
            </a:r>
            <a:r>
              <a:rPr lang="en-US" altLang="ko-KR"/>
              <a:t> </a:t>
            </a:r>
            <a:r>
              <a:rPr lang="ko-KR" altLang="en-US" err="1"/>
              <a:t>확인</a:t>
            </a:r>
            <a:r>
              <a:rPr lang="en-US"/>
              <a:t>.</a:t>
            </a:r>
          </a:p>
          <a:p>
            <a:r>
              <a:rPr lang="en-US"/>
              <a:t>     *</a:t>
            </a:r>
            <a:r>
              <a:rPr lang="en-US" altLang="ko-KR"/>
              <a:t> </a:t>
            </a:r>
            <a:r>
              <a:rPr lang="ko-KR" altLang="en-US" b="1" err="1"/>
              <a:t>개선</a:t>
            </a:r>
            <a:r>
              <a:rPr lang="en-US" altLang="ko-KR" b="1"/>
              <a:t> </a:t>
            </a:r>
            <a:r>
              <a:rPr lang="ko-KR" altLang="en-US" b="1" err="1"/>
              <a:t>방향</a:t>
            </a:r>
            <a:r>
              <a:rPr lang="en-US" altLang="ko-KR" b="1"/>
              <a:t> </a:t>
            </a:r>
            <a:r>
              <a:rPr lang="ko-KR" altLang="en-US" b="1" err="1"/>
              <a:t>아이디어</a:t>
            </a:r>
            <a:r>
              <a:rPr lang="en-US" b="1"/>
              <a:t>:</a:t>
            </a:r>
            <a:r>
              <a:rPr lang="en-US" altLang="ko-KR"/>
              <a:t> </a:t>
            </a:r>
            <a:r>
              <a:rPr lang="ko-KR" altLang="en-US" err="1"/>
              <a:t>개인</a:t>
            </a:r>
            <a:r>
              <a:rPr lang="en-US" altLang="ko-KR"/>
              <a:t> </a:t>
            </a:r>
            <a:r>
              <a:rPr lang="ko-KR" altLang="en-US" err="1"/>
              <a:t>여행객의</a:t>
            </a:r>
            <a:r>
              <a:rPr lang="en-US" altLang="ko-KR"/>
              <a:t> </a:t>
            </a:r>
            <a:r>
              <a:rPr lang="ko-KR" altLang="en-US" err="1"/>
              <a:t>만족도를</a:t>
            </a:r>
            <a:r>
              <a:rPr lang="en-US" altLang="ko-KR"/>
              <a:t> </a:t>
            </a:r>
            <a:r>
              <a:rPr lang="ko-KR" altLang="en-US" err="1"/>
              <a:t>높이거나</a:t>
            </a:r>
            <a:r>
              <a:rPr lang="en-US"/>
              <a:t>,</a:t>
            </a:r>
            <a:r>
              <a:rPr lang="en-US" altLang="ko-KR"/>
              <a:t> </a:t>
            </a:r>
            <a:r>
              <a:rPr lang="ko-KR" altLang="en-US" err="1"/>
              <a:t>중요도가</a:t>
            </a:r>
            <a:r>
              <a:rPr lang="en-US" altLang="ko-KR"/>
              <a:t> </a:t>
            </a:r>
            <a:r>
              <a:rPr lang="ko-KR" altLang="en-US" err="1"/>
              <a:t>높은</a:t>
            </a:r>
            <a:r>
              <a:rPr lang="en-US"/>
              <a:t> '</a:t>
            </a:r>
            <a:r>
              <a:rPr lang="ko-KR" altLang="en-US" err="1"/>
              <a:t>온라인</a:t>
            </a:r>
            <a:r>
              <a:rPr lang="en-US" altLang="ko-KR"/>
              <a:t> </a:t>
            </a:r>
            <a:r>
              <a:rPr lang="ko-KR" altLang="en-US" err="1"/>
              <a:t>보딩</a:t>
            </a:r>
            <a:r>
              <a:rPr lang="en-US"/>
              <a:t>/</a:t>
            </a:r>
            <a:r>
              <a:rPr lang="ko-KR" altLang="en-US" err="1"/>
              <a:t>예약</a:t>
            </a:r>
            <a:r>
              <a:rPr lang="en-US"/>
              <a:t>'</a:t>
            </a:r>
            <a:r>
              <a:rPr lang="en-US" altLang="ko-KR"/>
              <a:t> </a:t>
            </a:r>
            <a:r>
              <a:rPr lang="ko-KR" altLang="en-US" err="1"/>
              <a:t>시스템을</a:t>
            </a:r>
            <a:r>
              <a:rPr lang="en-US" altLang="ko-KR"/>
              <a:t> </a:t>
            </a:r>
            <a:r>
              <a:rPr lang="ko-KR" altLang="en-US" err="1"/>
              <a:t>개선하는</a:t>
            </a:r>
            <a:r>
              <a:rPr lang="en-US" altLang="ko-KR"/>
              <a:t> </a:t>
            </a:r>
            <a:r>
              <a:rPr lang="ko-KR" altLang="en-US" err="1"/>
              <a:t>방향으로</a:t>
            </a:r>
            <a:r>
              <a:rPr lang="en-US" altLang="ko-KR"/>
              <a:t> </a:t>
            </a:r>
            <a:r>
              <a:rPr lang="ko-KR" altLang="en-US" err="1"/>
              <a:t>비즈니스</a:t>
            </a:r>
            <a:r>
              <a:rPr lang="en-US" altLang="ko-KR"/>
              <a:t> </a:t>
            </a:r>
            <a:r>
              <a:rPr lang="ko-KR" altLang="en-US" err="1"/>
              <a:t>전략</a:t>
            </a:r>
            <a:r>
              <a:rPr lang="en-US"/>
              <a:t>(</a:t>
            </a:r>
            <a:r>
              <a:rPr lang="ko-KR" altLang="en-US" err="1"/>
              <a:t>발표</a:t>
            </a:r>
            <a:r>
              <a:rPr lang="en-US" altLang="ko-KR"/>
              <a:t> </a:t>
            </a:r>
            <a:r>
              <a:rPr lang="ko-KR" altLang="en-US" err="1"/>
              <a:t>주제</a:t>
            </a:r>
            <a:r>
              <a:rPr lang="en-US"/>
              <a:t>)</a:t>
            </a:r>
            <a:r>
              <a:rPr lang="ko-KR" altLang="en-US"/>
              <a:t>을</a:t>
            </a:r>
            <a:r>
              <a:rPr lang="en-US" altLang="ko-KR"/>
              <a:t> </a:t>
            </a:r>
            <a:r>
              <a:rPr lang="ko-KR" altLang="en-US" err="1"/>
              <a:t>수립하자는</a:t>
            </a:r>
            <a:r>
              <a:rPr lang="en-US" altLang="ko-KR"/>
              <a:t> </a:t>
            </a:r>
            <a:r>
              <a:rPr lang="ko-KR" altLang="en-US" err="1"/>
              <a:t>의견</a:t>
            </a:r>
            <a:r>
              <a:rPr lang="en-US" altLang="ko-KR"/>
              <a:t> </a:t>
            </a:r>
            <a:r>
              <a:rPr lang="ko-KR" altLang="en-US" err="1"/>
              <a:t>제시</a:t>
            </a:r>
            <a:r>
              <a:rPr lang="en-US"/>
              <a:t>.</a:t>
            </a:r>
          </a:p>
          <a:p>
            <a:br>
              <a:rPr lang="en-US"/>
            </a:br>
            <a:endParaRPr lang="en-US"/>
          </a:p>
          <a:p>
            <a:r>
              <a:rPr lang="en-US"/>
              <a:t>  </a:t>
            </a:r>
            <a:r>
              <a:rPr lang="en-US" b="1"/>
              <a:t>3.</a:t>
            </a:r>
            <a:r>
              <a:rPr lang="en-US" altLang="ko-KR" b="1"/>
              <a:t> </a:t>
            </a:r>
            <a:r>
              <a:rPr lang="ko-KR" altLang="en-US" b="1" err="1"/>
              <a:t>머신러닝</a:t>
            </a:r>
            <a:r>
              <a:rPr lang="en-US" altLang="ko-KR" b="1"/>
              <a:t> </a:t>
            </a:r>
            <a:r>
              <a:rPr lang="ko-KR" altLang="en-US" b="1" err="1"/>
              <a:t>모델링</a:t>
            </a:r>
            <a:r>
              <a:rPr lang="en-US" altLang="ko-KR" b="1"/>
              <a:t> </a:t>
            </a:r>
            <a:r>
              <a:rPr lang="ko-KR" altLang="en-US" b="1"/>
              <a:t>및</a:t>
            </a:r>
            <a:r>
              <a:rPr lang="en-US" altLang="ko-KR" b="1"/>
              <a:t> </a:t>
            </a:r>
            <a:r>
              <a:rPr lang="ko-KR" altLang="en-US" b="1" err="1"/>
              <a:t>변수</a:t>
            </a:r>
            <a:r>
              <a:rPr lang="en-US" altLang="ko-KR" b="1"/>
              <a:t> </a:t>
            </a:r>
            <a:r>
              <a:rPr lang="ko-KR" altLang="en-US" b="1" err="1"/>
              <a:t>중요도</a:t>
            </a:r>
            <a:r>
              <a:rPr lang="en-US" altLang="ko-KR" b="1"/>
              <a:t> </a:t>
            </a:r>
            <a:r>
              <a:rPr lang="ko-KR" altLang="en-US" b="1" err="1"/>
              <a:t>분석</a:t>
            </a:r>
            <a:r>
              <a:rPr lang="en-US" b="1"/>
              <a:t> (Mission 3~5)</a:t>
            </a:r>
            <a:endParaRPr lang="en-US"/>
          </a:p>
          <a:p>
            <a:r>
              <a:rPr lang="en-US"/>
              <a:t>   *</a:t>
            </a:r>
            <a:r>
              <a:rPr lang="en-US" altLang="ko-KR"/>
              <a:t> </a:t>
            </a:r>
            <a:r>
              <a:rPr lang="ko-KR" altLang="en-US" b="1" err="1"/>
              <a:t>기본</a:t>
            </a:r>
            <a:r>
              <a:rPr lang="en-US" altLang="ko-KR" b="1"/>
              <a:t> </a:t>
            </a:r>
            <a:r>
              <a:rPr lang="ko-KR" altLang="en-US" b="1" err="1"/>
              <a:t>모델</a:t>
            </a:r>
            <a:r>
              <a:rPr lang="en-US" b="1"/>
              <a:t>:</a:t>
            </a:r>
            <a:r>
              <a:rPr lang="en-US" altLang="ko-KR"/>
              <a:t> </a:t>
            </a:r>
            <a:r>
              <a:rPr lang="ko-KR" altLang="en-US" err="1"/>
              <a:t>랜덤</a:t>
            </a:r>
            <a:r>
              <a:rPr lang="en-US" altLang="ko-KR"/>
              <a:t> </a:t>
            </a:r>
            <a:r>
              <a:rPr lang="ko-KR" altLang="en-US" err="1"/>
              <a:t>포레스트</a:t>
            </a:r>
            <a:r>
              <a:rPr lang="en-US"/>
              <a:t>(Random Forest)</a:t>
            </a:r>
            <a:r>
              <a:rPr lang="en-US" altLang="ko-KR"/>
              <a:t> </a:t>
            </a:r>
            <a:r>
              <a:rPr lang="ko-KR" altLang="en-US" err="1"/>
              <a:t>등을</a:t>
            </a:r>
            <a:r>
              <a:rPr lang="en-US" altLang="ko-KR"/>
              <a:t> </a:t>
            </a:r>
            <a:r>
              <a:rPr lang="ko-KR" altLang="en-US" err="1"/>
              <a:t>활용</a:t>
            </a:r>
            <a:r>
              <a:rPr lang="en-US"/>
              <a:t>,</a:t>
            </a:r>
            <a:r>
              <a:rPr lang="en-US" altLang="ko-KR"/>
              <a:t> </a:t>
            </a:r>
            <a:r>
              <a:rPr lang="ko-KR" altLang="en-US"/>
              <a:t>약</a:t>
            </a:r>
            <a:r>
              <a:rPr lang="en-US"/>
              <a:t> 0.967</a:t>
            </a:r>
            <a:r>
              <a:rPr lang="en-US" altLang="ko-KR"/>
              <a:t> </a:t>
            </a:r>
            <a:r>
              <a:rPr lang="ko-KR" altLang="en-US" err="1"/>
              <a:t>수준의</a:t>
            </a:r>
            <a:r>
              <a:rPr lang="en-US" altLang="ko-KR"/>
              <a:t> </a:t>
            </a:r>
            <a:r>
              <a:rPr lang="ko-KR" altLang="en-US" err="1"/>
              <a:t>높은</a:t>
            </a:r>
            <a:r>
              <a:rPr lang="en-US" altLang="ko-KR"/>
              <a:t> </a:t>
            </a:r>
            <a:r>
              <a:rPr lang="ko-KR" altLang="en-US" err="1"/>
              <a:t>정확도</a:t>
            </a:r>
            <a:r>
              <a:rPr lang="en-US" altLang="ko-KR"/>
              <a:t> </a:t>
            </a:r>
            <a:r>
              <a:rPr lang="ko-KR" altLang="en-US" err="1"/>
              <a:t>확보</a:t>
            </a:r>
            <a:r>
              <a:rPr lang="en-US"/>
              <a:t>.</a:t>
            </a:r>
          </a:p>
          <a:p>
            <a:r>
              <a:rPr lang="en-US"/>
              <a:t>   *</a:t>
            </a:r>
            <a:r>
              <a:rPr lang="en-US" altLang="ko-KR"/>
              <a:t> </a:t>
            </a:r>
            <a:r>
              <a:rPr lang="ko-KR" altLang="en-US" b="1" err="1"/>
              <a:t>나이</a:t>
            </a:r>
            <a:r>
              <a:rPr lang="en-US" b="1"/>
              <a:t>(35</a:t>
            </a:r>
            <a:r>
              <a:rPr lang="ko-KR" altLang="en-US" b="1"/>
              <a:t>세</a:t>
            </a:r>
            <a:r>
              <a:rPr lang="en-US" b="1"/>
              <a:t>)</a:t>
            </a:r>
            <a:r>
              <a:rPr lang="en-US" altLang="ko-KR" b="1"/>
              <a:t> </a:t>
            </a:r>
            <a:r>
              <a:rPr lang="ko-KR" altLang="en-US" b="1" err="1"/>
              <a:t>기준</a:t>
            </a:r>
            <a:r>
              <a:rPr lang="en-US" altLang="ko-KR" b="1"/>
              <a:t> </a:t>
            </a:r>
            <a:r>
              <a:rPr lang="ko-KR" altLang="en-US" b="1" err="1"/>
              <a:t>타겟</a:t>
            </a:r>
            <a:r>
              <a:rPr lang="en-US" altLang="ko-KR" b="1"/>
              <a:t> </a:t>
            </a:r>
            <a:r>
              <a:rPr lang="ko-KR" altLang="en-US" b="1" err="1"/>
              <a:t>분리</a:t>
            </a:r>
            <a:r>
              <a:rPr lang="en-US" altLang="ko-KR" b="1"/>
              <a:t> </a:t>
            </a:r>
            <a:r>
              <a:rPr lang="ko-KR" altLang="en-US" b="1" err="1"/>
              <a:t>분석</a:t>
            </a:r>
            <a:r>
              <a:rPr lang="en-US" b="1"/>
              <a:t>:</a:t>
            </a:r>
            <a:endParaRPr lang="en-US"/>
          </a:p>
          <a:p>
            <a:r>
              <a:rPr lang="en-US"/>
              <a:t>     * </a:t>
            </a:r>
            <a:r>
              <a:rPr lang="en-US" b="1"/>
              <a:t>35</a:t>
            </a:r>
            <a:r>
              <a:rPr lang="ko-KR" altLang="en-US" b="1"/>
              <a:t>세</a:t>
            </a:r>
            <a:r>
              <a:rPr lang="en-US" altLang="ko-KR" b="1"/>
              <a:t> </a:t>
            </a:r>
            <a:r>
              <a:rPr lang="ko-KR" altLang="en-US" b="1" err="1"/>
              <a:t>이하</a:t>
            </a:r>
            <a:r>
              <a:rPr lang="en-US" b="1"/>
              <a:t>:</a:t>
            </a:r>
            <a:r>
              <a:rPr lang="en-US"/>
              <a:t> '</a:t>
            </a:r>
            <a:r>
              <a:rPr lang="ko-KR" altLang="en-US" err="1"/>
              <a:t>레그룸</a:t>
            </a:r>
            <a:r>
              <a:rPr lang="en-US"/>
              <a:t>(Legroom)</a:t>
            </a:r>
            <a:r>
              <a:rPr lang="en-US" altLang="ko-KR"/>
              <a:t> </a:t>
            </a:r>
            <a:r>
              <a:rPr lang="ko-KR" altLang="en-US" err="1"/>
              <a:t>서비스</a:t>
            </a:r>
            <a:r>
              <a:rPr lang="en-US" err="1"/>
              <a:t>'</a:t>
            </a:r>
            <a:r>
              <a:rPr lang="ko-KR" altLang="en-US" err="1"/>
              <a:t>의</a:t>
            </a:r>
            <a:r>
              <a:rPr lang="en-US" altLang="ko-KR"/>
              <a:t> </a:t>
            </a:r>
            <a:r>
              <a:rPr lang="ko-KR" altLang="en-US" err="1"/>
              <a:t>중요도가</a:t>
            </a:r>
            <a:r>
              <a:rPr lang="en-US" altLang="ko-KR"/>
              <a:t> </a:t>
            </a:r>
            <a:r>
              <a:rPr lang="ko-KR" altLang="en-US" err="1"/>
              <a:t>하위권으로</a:t>
            </a:r>
            <a:r>
              <a:rPr lang="en-US" altLang="ko-KR"/>
              <a:t> </a:t>
            </a:r>
            <a:r>
              <a:rPr lang="ko-KR" altLang="en-US" err="1"/>
              <a:t>크게</a:t>
            </a:r>
            <a:r>
              <a:rPr lang="en-US" altLang="ko-KR"/>
              <a:t> </a:t>
            </a:r>
            <a:r>
              <a:rPr lang="ko-KR" altLang="en-US" err="1"/>
              <a:t>하락함</a:t>
            </a:r>
            <a:r>
              <a:rPr lang="en-US"/>
              <a:t>.</a:t>
            </a:r>
            <a:r>
              <a:rPr lang="en-US" altLang="ko-KR"/>
              <a:t> </a:t>
            </a:r>
            <a:r>
              <a:rPr lang="ko-KR" altLang="en-US" err="1"/>
              <a:t>반면</a:t>
            </a:r>
            <a:r>
              <a:rPr lang="en-US" altLang="ko-KR"/>
              <a:t> </a:t>
            </a:r>
            <a:r>
              <a:rPr lang="ko-KR" altLang="en-US" err="1"/>
              <a:t>이코노미</a:t>
            </a:r>
            <a:r>
              <a:rPr lang="en-US" altLang="ko-KR"/>
              <a:t> </a:t>
            </a:r>
            <a:r>
              <a:rPr lang="ko-KR" altLang="en-US" err="1"/>
              <a:t>클래스</a:t>
            </a:r>
            <a:r>
              <a:rPr lang="en-US" altLang="ko-KR"/>
              <a:t> </a:t>
            </a:r>
            <a:r>
              <a:rPr lang="ko-KR" altLang="en-US" err="1"/>
              <a:t>선호도</a:t>
            </a:r>
            <a:r>
              <a:rPr lang="en-US" altLang="ko-KR"/>
              <a:t> </a:t>
            </a:r>
            <a:r>
              <a:rPr lang="ko-KR" altLang="en-US" err="1"/>
              <a:t>등급이</a:t>
            </a:r>
            <a:r>
              <a:rPr lang="en-US" altLang="ko-KR"/>
              <a:t> </a:t>
            </a:r>
            <a:r>
              <a:rPr lang="ko-KR" altLang="en-US" err="1"/>
              <a:t>만족도에</a:t>
            </a:r>
            <a:r>
              <a:rPr lang="en-US" altLang="ko-KR"/>
              <a:t> </a:t>
            </a:r>
            <a:r>
              <a:rPr lang="ko-KR" altLang="en-US" err="1"/>
              <a:t>영향을</a:t>
            </a:r>
            <a:r>
              <a:rPr lang="en-US" altLang="ko-KR"/>
              <a:t> </a:t>
            </a:r>
            <a:r>
              <a:rPr lang="ko-KR" altLang="en-US" err="1"/>
              <a:t>미치는</a:t>
            </a:r>
            <a:r>
              <a:rPr lang="en-US" altLang="ko-KR"/>
              <a:t> </a:t>
            </a:r>
            <a:r>
              <a:rPr lang="ko-KR" altLang="en-US" err="1"/>
              <a:t>경향이</a:t>
            </a:r>
            <a:r>
              <a:rPr lang="en-US" altLang="ko-KR"/>
              <a:t> </a:t>
            </a:r>
            <a:r>
              <a:rPr lang="ko-KR" altLang="en-US" err="1"/>
              <a:t>발견됨</a:t>
            </a:r>
            <a:r>
              <a:rPr lang="en-US"/>
              <a:t>.</a:t>
            </a:r>
          </a:p>
          <a:p>
            <a:r>
              <a:rPr lang="en-US"/>
              <a:t>     * </a:t>
            </a:r>
            <a:r>
              <a:rPr lang="en-US" b="1"/>
              <a:t>35</a:t>
            </a:r>
            <a:r>
              <a:rPr lang="ko-KR" altLang="en-US" b="1"/>
              <a:t>세</a:t>
            </a:r>
            <a:r>
              <a:rPr lang="en-US" altLang="ko-KR" b="1"/>
              <a:t> </a:t>
            </a:r>
            <a:r>
              <a:rPr lang="ko-KR" altLang="en-US" b="1" err="1"/>
              <a:t>초과</a:t>
            </a:r>
            <a:r>
              <a:rPr lang="en-US" b="1"/>
              <a:t>:</a:t>
            </a:r>
            <a:r>
              <a:rPr lang="en-US"/>
              <a:t> '</a:t>
            </a:r>
            <a:r>
              <a:rPr lang="ko-KR" altLang="en-US" err="1"/>
              <a:t>레그룸</a:t>
            </a:r>
            <a:r>
              <a:rPr lang="en-US" altLang="ko-KR"/>
              <a:t> </a:t>
            </a:r>
            <a:r>
              <a:rPr lang="ko-KR" altLang="en-US" err="1"/>
              <a:t>서비스</a:t>
            </a:r>
            <a:r>
              <a:rPr lang="en-US"/>
              <a:t>'</a:t>
            </a:r>
            <a:r>
              <a:rPr lang="en-US" altLang="ko-KR"/>
              <a:t> </a:t>
            </a:r>
            <a:r>
              <a:rPr lang="ko-KR" altLang="en-US"/>
              <a:t>및</a:t>
            </a:r>
            <a:r>
              <a:rPr lang="en-US"/>
              <a:t> '</a:t>
            </a:r>
            <a:r>
              <a:rPr lang="ko-KR" altLang="en-US" err="1"/>
              <a:t>좌석의</a:t>
            </a:r>
            <a:r>
              <a:rPr lang="en-US" altLang="ko-KR"/>
              <a:t> </a:t>
            </a:r>
            <a:r>
              <a:rPr lang="ko-KR" altLang="en-US" err="1"/>
              <a:t>편안함</a:t>
            </a:r>
            <a:r>
              <a:rPr lang="en-US" err="1"/>
              <a:t>'</a:t>
            </a:r>
            <a:r>
              <a:rPr lang="ko-KR" altLang="en-US" err="1"/>
              <a:t>이</a:t>
            </a:r>
            <a:r>
              <a:rPr lang="en-US" altLang="ko-KR"/>
              <a:t> </a:t>
            </a:r>
            <a:r>
              <a:rPr lang="ko-KR" altLang="en-US" err="1"/>
              <a:t>만족도에</a:t>
            </a:r>
            <a:r>
              <a:rPr lang="en-US" altLang="ko-KR"/>
              <a:t> </a:t>
            </a:r>
            <a:r>
              <a:rPr lang="ko-KR" altLang="en-US" err="1"/>
              <a:t>미치는</a:t>
            </a:r>
            <a:r>
              <a:rPr lang="en-US" altLang="ko-KR"/>
              <a:t> </a:t>
            </a:r>
            <a:r>
              <a:rPr lang="ko-KR" altLang="en-US" err="1"/>
              <a:t>영향력이</a:t>
            </a:r>
            <a:r>
              <a:rPr lang="en-US" altLang="ko-KR"/>
              <a:t> </a:t>
            </a:r>
            <a:r>
              <a:rPr lang="ko-KR" altLang="en-US" err="1"/>
              <a:t>상위권으로</a:t>
            </a:r>
            <a:r>
              <a:rPr lang="en-US" altLang="ko-KR"/>
              <a:t> </a:t>
            </a:r>
            <a:r>
              <a:rPr lang="ko-KR" altLang="en-US" err="1"/>
              <a:t>급상승함</a:t>
            </a:r>
            <a:r>
              <a:rPr lang="en-US"/>
              <a:t>.</a:t>
            </a:r>
            <a:r>
              <a:rPr lang="en-US" altLang="ko-KR"/>
              <a:t> </a:t>
            </a:r>
            <a:r>
              <a:rPr lang="ko-KR" altLang="en-US" err="1"/>
              <a:t>반면</a:t>
            </a:r>
            <a:r>
              <a:rPr lang="en-US"/>
              <a:t> '</a:t>
            </a:r>
            <a:r>
              <a:rPr lang="ko-KR" altLang="en-US" err="1"/>
              <a:t>게이트</a:t>
            </a:r>
            <a:r>
              <a:rPr lang="en-US" altLang="ko-KR"/>
              <a:t> </a:t>
            </a:r>
            <a:r>
              <a:rPr lang="ko-KR" altLang="en-US" err="1"/>
              <a:t>위치</a:t>
            </a:r>
            <a:r>
              <a:rPr lang="en-US" err="1"/>
              <a:t>'</a:t>
            </a:r>
            <a:r>
              <a:rPr lang="ko-KR" altLang="en-US" err="1"/>
              <a:t>의</a:t>
            </a:r>
            <a:r>
              <a:rPr lang="en-US" altLang="ko-KR"/>
              <a:t> </a:t>
            </a:r>
            <a:r>
              <a:rPr lang="ko-KR" altLang="en-US" err="1"/>
              <a:t>중요도는</a:t>
            </a:r>
            <a:r>
              <a:rPr lang="en-US" altLang="ko-KR"/>
              <a:t> </a:t>
            </a:r>
            <a:r>
              <a:rPr lang="ko-KR" altLang="en-US" err="1"/>
              <a:t>낮아짐</a:t>
            </a:r>
            <a:r>
              <a:rPr lang="en-US"/>
              <a:t>.</a:t>
            </a:r>
          </a:p>
          <a:p>
            <a:r>
              <a:rPr lang="en-US"/>
              <a:t>     *</a:t>
            </a:r>
            <a:r>
              <a:rPr lang="en-US" altLang="ko-KR"/>
              <a:t> </a:t>
            </a:r>
            <a:r>
              <a:rPr lang="ko-KR" altLang="en-US" b="1" err="1"/>
              <a:t>공통</a:t>
            </a:r>
            <a:r>
              <a:rPr lang="en-US" altLang="ko-KR" b="1"/>
              <a:t> </a:t>
            </a:r>
            <a:r>
              <a:rPr lang="ko-KR" altLang="en-US" b="1" err="1"/>
              <a:t>사항</a:t>
            </a:r>
            <a:r>
              <a:rPr lang="en-US" b="1"/>
              <a:t>:</a:t>
            </a:r>
            <a:r>
              <a:rPr lang="en-US" altLang="ko-KR"/>
              <a:t> </a:t>
            </a:r>
            <a:r>
              <a:rPr lang="ko-KR" altLang="en-US" err="1"/>
              <a:t>나이</a:t>
            </a:r>
            <a:r>
              <a:rPr lang="en-US" altLang="ko-KR"/>
              <a:t> </a:t>
            </a:r>
            <a:r>
              <a:rPr lang="ko-KR" altLang="en-US" err="1"/>
              <a:t>자체만으로도</a:t>
            </a:r>
            <a:r>
              <a:rPr lang="en-US" altLang="ko-KR"/>
              <a:t> </a:t>
            </a:r>
            <a:r>
              <a:rPr lang="ko-KR" altLang="en-US" err="1"/>
              <a:t>만족도에</a:t>
            </a:r>
            <a:r>
              <a:rPr lang="en-US" altLang="ko-KR"/>
              <a:t> </a:t>
            </a:r>
            <a:r>
              <a:rPr lang="ko-KR" altLang="en-US" err="1"/>
              <a:t>유의미한</a:t>
            </a:r>
            <a:r>
              <a:rPr lang="en-US" altLang="ko-KR"/>
              <a:t> </a:t>
            </a:r>
            <a:r>
              <a:rPr lang="ko-KR" altLang="en-US" err="1"/>
              <a:t>영향을</a:t>
            </a:r>
            <a:r>
              <a:rPr lang="en-US" altLang="ko-KR"/>
              <a:t> </a:t>
            </a:r>
            <a:r>
              <a:rPr lang="ko-KR" altLang="en-US" err="1"/>
              <a:t>끼치는</a:t>
            </a:r>
            <a:r>
              <a:rPr lang="en-US" altLang="ko-KR"/>
              <a:t> </a:t>
            </a:r>
            <a:r>
              <a:rPr lang="ko-KR" altLang="en-US" err="1"/>
              <a:t>독립적인</a:t>
            </a:r>
            <a:r>
              <a:rPr lang="en-US" altLang="ko-KR"/>
              <a:t> </a:t>
            </a:r>
            <a:r>
              <a:rPr lang="ko-KR" altLang="en-US" err="1"/>
              <a:t>변수임을</a:t>
            </a:r>
            <a:r>
              <a:rPr lang="en-US" altLang="ko-KR"/>
              <a:t> </a:t>
            </a:r>
            <a:r>
              <a:rPr lang="ko-KR" altLang="en-US" err="1"/>
              <a:t>확인</a:t>
            </a:r>
            <a:r>
              <a:rPr lang="en-US"/>
              <a:t>.</a:t>
            </a:r>
          </a:p>
          <a:p>
            <a:r>
              <a:rPr lang="en-US"/>
              <a:t>   *</a:t>
            </a:r>
            <a:r>
              <a:rPr lang="en-US" altLang="ko-KR"/>
              <a:t> </a:t>
            </a:r>
            <a:r>
              <a:rPr lang="ko-KR" altLang="en-US" b="1" err="1"/>
              <a:t>상관관계</a:t>
            </a:r>
            <a:r>
              <a:rPr lang="en-US" altLang="ko-KR" b="1"/>
              <a:t> </a:t>
            </a:r>
            <a:r>
              <a:rPr lang="ko-KR" altLang="en-US" b="1" err="1"/>
              <a:t>분석</a:t>
            </a:r>
            <a:r>
              <a:rPr lang="en-US" b="1"/>
              <a:t>:</a:t>
            </a:r>
            <a:endParaRPr lang="en-US"/>
          </a:p>
          <a:p>
            <a:r>
              <a:rPr lang="en-US"/>
              <a:t>     * Online boarding</a:t>
            </a:r>
            <a:r>
              <a:rPr lang="en-US" altLang="ko-KR"/>
              <a:t> </a:t>
            </a:r>
            <a:r>
              <a:rPr lang="ko-KR" altLang="en-US"/>
              <a:t>및</a:t>
            </a:r>
            <a:r>
              <a:rPr lang="en-US"/>
              <a:t> Inflight </a:t>
            </a:r>
            <a:r>
              <a:rPr lang="en-US" err="1"/>
              <a:t>wifi</a:t>
            </a:r>
            <a:r>
              <a:rPr lang="en-US"/>
              <a:t> </a:t>
            </a:r>
            <a:r>
              <a:rPr lang="en-US" err="1"/>
              <a:t>service</a:t>
            </a:r>
            <a:r>
              <a:rPr lang="ko-KR" altLang="en-US" err="1"/>
              <a:t>가</a:t>
            </a:r>
            <a:r>
              <a:rPr lang="en-US" altLang="ko-KR"/>
              <a:t> </a:t>
            </a:r>
            <a:r>
              <a:rPr lang="ko-KR" altLang="en-US" err="1"/>
              <a:t>만족도와</a:t>
            </a:r>
            <a:r>
              <a:rPr lang="en-US" altLang="ko-KR"/>
              <a:t> </a:t>
            </a:r>
            <a:r>
              <a:rPr lang="ko-KR" altLang="en-US" err="1"/>
              <a:t>매우</a:t>
            </a:r>
            <a:r>
              <a:rPr lang="en-US" altLang="ko-KR"/>
              <a:t> </a:t>
            </a:r>
            <a:r>
              <a:rPr lang="ko-KR" altLang="en-US" err="1"/>
              <a:t>강한</a:t>
            </a:r>
            <a:r>
              <a:rPr lang="en-US" altLang="ko-KR"/>
              <a:t> </a:t>
            </a:r>
            <a:r>
              <a:rPr lang="ko-KR" altLang="en-US"/>
              <a:t>양</a:t>
            </a:r>
            <a:r>
              <a:rPr lang="en-US"/>
              <a:t>(+)</a:t>
            </a:r>
            <a:r>
              <a:rPr lang="ko-KR" altLang="en-US"/>
              <a:t>의</a:t>
            </a:r>
            <a:r>
              <a:rPr lang="en-US" altLang="ko-KR"/>
              <a:t> </a:t>
            </a:r>
            <a:r>
              <a:rPr lang="ko-KR" altLang="en-US" err="1"/>
              <a:t>상관관계를</a:t>
            </a:r>
            <a:r>
              <a:rPr lang="en-US" altLang="ko-KR"/>
              <a:t> </a:t>
            </a:r>
            <a:r>
              <a:rPr lang="ko-KR" altLang="en-US" err="1"/>
              <a:t>가짐</a:t>
            </a:r>
            <a:r>
              <a:rPr lang="en-US"/>
              <a:t>.</a:t>
            </a:r>
          </a:p>
          <a:p>
            <a:r>
              <a:rPr lang="en-US"/>
              <a:t>     * Type of travel(</a:t>
            </a:r>
            <a:r>
              <a:rPr lang="ko-KR" altLang="en-US" err="1"/>
              <a:t>여행</a:t>
            </a:r>
            <a:r>
              <a:rPr lang="en-US" altLang="ko-KR"/>
              <a:t> </a:t>
            </a:r>
            <a:r>
              <a:rPr lang="ko-KR" altLang="en-US" err="1"/>
              <a:t>목적</a:t>
            </a:r>
            <a:r>
              <a:rPr lang="en-US"/>
              <a:t>)</a:t>
            </a:r>
            <a:r>
              <a:rPr lang="ko-KR" altLang="en-US"/>
              <a:t>은</a:t>
            </a:r>
            <a:r>
              <a:rPr lang="en-US" altLang="ko-KR"/>
              <a:t> </a:t>
            </a:r>
            <a:r>
              <a:rPr lang="ko-KR" altLang="en-US"/>
              <a:t>음</a:t>
            </a:r>
            <a:r>
              <a:rPr lang="en-US"/>
              <a:t>(-)</a:t>
            </a:r>
            <a:r>
              <a:rPr lang="ko-KR" altLang="en-US"/>
              <a:t>의</a:t>
            </a:r>
            <a:r>
              <a:rPr lang="en-US" altLang="ko-KR"/>
              <a:t> </a:t>
            </a:r>
            <a:r>
              <a:rPr lang="ko-KR" altLang="en-US" err="1"/>
              <a:t>상관관계를</a:t>
            </a:r>
            <a:r>
              <a:rPr lang="en-US" altLang="ko-KR"/>
              <a:t> </a:t>
            </a:r>
            <a:r>
              <a:rPr lang="ko-KR" altLang="en-US" err="1"/>
              <a:t>보여</a:t>
            </a:r>
            <a:r>
              <a:rPr lang="en-US"/>
              <a:t>,</a:t>
            </a:r>
            <a:r>
              <a:rPr lang="en-US" altLang="ko-KR"/>
              <a:t> </a:t>
            </a:r>
            <a:r>
              <a:rPr lang="ko-KR" altLang="en-US" err="1"/>
              <a:t>목적에</a:t>
            </a:r>
            <a:r>
              <a:rPr lang="en-US" altLang="ko-KR"/>
              <a:t> </a:t>
            </a:r>
            <a:r>
              <a:rPr lang="ko-KR" altLang="en-US" err="1"/>
              <a:t>따른</a:t>
            </a:r>
            <a:r>
              <a:rPr lang="en-US" altLang="ko-KR"/>
              <a:t> </a:t>
            </a:r>
            <a:r>
              <a:rPr lang="ko-KR" altLang="en-US" err="1"/>
              <a:t>맞춤형</a:t>
            </a:r>
            <a:r>
              <a:rPr lang="en-US" altLang="ko-KR"/>
              <a:t> </a:t>
            </a:r>
            <a:r>
              <a:rPr lang="ko-KR" altLang="en-US" err="1"/>
              <a:t>서비스</a:t>
            </a:r>
            <a:r>
              <a:rPr lang="en-US" altLang="ko-KR"/>
              <a:t> </a:t>
            </a:r>
            <a:r>
              <a:rPr lang="ko-KR" altLang="en-US" err="1"/>
              <a:t>접근이</a:t>
            </a:r>
            <a:r>
              <a:rPr lang="en-US" altLang="ko-KR"/>
              <a:t> </a:t>
            </a:r>
            <a:r>
              <a:rPr lang="ko-KR" altLang="en-US" err="1"/>
              <a:t>필요함</a:t>
            </a:r>
            <a:r>
              <a:rPr lang="en-US"/>
              <a:t>.</a:t>
            </a:r>
          </a:p>
          <a:p>
            <a:br>
              <a:rPr lang="en-US"/>
            </a:br>
            <a:endParaRPr lang="en-US"/>
          </a:p>
          <a:p>
            <a:r>
              <a:rPr lang="en-US"/>
              <a:t>  </a:t>
            </a:r>
            <a:r>
              <a:rPr lang="en-US" b="1"/>
              <a:t>4.</a:t>
            </a:r>
            <a:r>
              <a:rPr lang="en-US" altLang="ko-KR" b="1"/>
              <a:t> </a:t>
            </a:r>
            <a:r>
              <a:rPr lang="ko-KR" altLang="en-US" b="1" err="1"/>
              <a:t>딥러닝</a:t>
            </a:r>
            <a:r>
              <a:rPr lang="en-US" altLang="ko-KR" b="1"/>
              <a:t> </a:t>
            </a:r>
            <a:r>
              <a:rPr lang="ko-KR" altLang="en-US" b="1" err="1"/>
              <a:t>전처리</a:t>
            </a:r>
            <a:r>
              <a:rPr lang="en-US" altLang="ko-KR" b="1"/>
              <a:t> </a:t>
            </a:r>
            <a:r>
              <a:rPr lang="ko-KR" altLang="en-US" b="1"/>
              <a:t>및</a:t>
            </a:r>
            <a:r>
              <a:rPr lang="en-US" altLang="ko-KR" b="1"/>
              <a:t> </a:t>
            </a:r>
            <a:r>
              <a:rPr lang="ko-KR" altLang="en-US" b="1" err="1"/>
              <a:t>모델링</a:t>
            </a:r>
            <a:r>
              <a:rPr lang="en-US" altLang="ko-KR" b="1"/>
              <a:t> </a:t>
            </a:r>
            <a:r>
              <a:rPr lang="ko-KR" altLang="en-US" b="1" err="1"/>
              <a:t>로직</a:t>
            </a:r>
            <a:r>
              <a:rPr lang="en-US" altLang="ko-KR" b="1"/>
              <a:t> </a:t>
            </a:r>
            <a:r>
              <a:rPr lang="ko-KR" altLang="en-US" b="1" err="1"/>
              <a:t>리뷰</a:t>
            </a:r>
            <a:r>
              <a:rPr lang="en-US" b="1"/>
              <a:t> (Mission 6~8)</a:t>
            </a:r>
            <a:endParaRPr lang="en-US"/>
          </a:p>
          <a:p>
            <a:r>
              <a:rPr lang="en-US"/>
              <a:t> </a:t>
            </a:r>
            <a:r>
              <a:rPr lang="en-US" altLang="ko-KR"/>
              <a:t> </a:t>
            </a:r>
            <a:r>
              <a:rPr lang="ko-KR" altLang="en-US" err="1"/>
              <a:t>조장의</a:t>
            </a:r>
            <a:r>
              <a:rPr lang="en-US" altLang="ko-KR"/>
              <a:t> </a:t>
            </a:r>
            <a:r>
              <a:rPr lang="ko-KR" altLang="en-US" err="1"/>
              <a:t>주도</a:t>
            </a:r>
            <a:r>
              <a:rPr lang="en-US" altLang="ko-KR"/>
              <a:t> </a:t>
            </a:r>
            <a:r>
              <a:rPr lang="ko-KR" altLang="en-US" err="1"/>
              <a:t>하에</a:t>
            </a:r>
            <a:r>
              <a:rPr lang="en-US" altLang="ko-KR"/>
              <a:t> </a:t>
            </a:r>
            <a:r>
              <a:rPr lang="ko-KR" altLang="en-US" err="1"/>
              <a:t>팀원</a:t>
            </a:r>
            <a:r>
              <a:rPr lang="en-US" altLang="ko-KR"/>
              <a:t> </a:t>
            </a:r>
            <a:r>
              <a:rPr lang="ko-KR" altLang="en-US" err="1"/>
              <a:t>전원이</a:t>
            </a:r>
            <a:r>
              <a:rPr lang="en-US" altLang="ko-KR"/>
              <a:t> </a:t>
            </a:r>
            <a:r>
              <a:rPr lang="ko-KR" altLang="en-US" err="1"/>
              <a:t>돌아가며</a:t>
            </a:r>
            <a:r>
              <a:rPr lang="en-US" altLang="ko-KR"/>
              <a:t> </a:t>
            </a:r>
            <a:r>
              <a:rPr lang="ko-KR" altLang="en-US" err="1"/>
              <a:t>자신의</a:t>
            </a:r>
            <a:r>
              <a:rPr lang="en-US" altLang="ko-KR"/>
              <a:t> </a:t>
            </a:r>
            <a:r>
              <a:rPr lang="ko-KR" altLang="en-US" err="1"/>
              <a:t>딥러닝</a:t>
            </a:r>
            <a:r>
              <a:rPr lang="en-US" altLang="ko-KR"/>
              <a:t> </a:t>
            </a:r>
            <a:r>
              <a:rPr lang="ko-KR" altLang="en-US" err="1"/>
              <a:t>코드와</a:t>
            </a:r>
            <a:r>
              <a:rPr lang="en-US" altLang="ko-KR"/>
              <a:t> </a:t>
            </a:r>
            <a:r>
              <a:rPr lang="ko-KR" altLang="en-US" err="1"/>
              <a:t>모델링</a:t>
            </a:r>
            <a:r>
              <a:rPr lang="en-US" altLang="ko-KR"/>
              <a:t> </a:t>
            </a:r>
            <a:r>
              <a:rPr lang="ko-KR" altLang="en-US" err="1"/>
              <a:t>결과를</a:t>
            </a:r>
            <a:r>
              <a:rPr lang="en-US" altLang="ko-KR"/>
              <a:t> </a:t>
            </a:r>
            <a:r>
              <a:rPr lang="ko-KR" altLang="en-US" err="1"/>
              <a:t>화면</a:t>
            </a:r>
            <a:r>
              <a:rPr lang="en-US" altLang="ko-KR"/>
              <a:t> </a:t>
            </a:r>
            <a:r>
              <a:rPr lang="ko-KR" altLang="en-US" err="1"/>
              <a:t>공유하고</a:t>
            </a:r>
            <a:r>
              <a:rPr lang="en-US" altLang="ko-KR"/>
              <a:t> </a:t>
            </a:r>
            <a:r>
              <a:rPr lang="ko-KR" altLang="en-US" err="1"/>
              <a:t>리뷰함</a:t>
            </a:r>
            <a:r>
              <a:rPr lang="en-US"/>
              <a:t>.</a:t>
            </a:r>
          </a:p>
          <a:p>
            <a:br>
              <a:rPr lang="en-US"/>
            </a:br>
            <a:endParaRPr lang="en-US"/>
          </a:p>
          <a:p>
            <a:r>
              <a:rPr lang="en-US"/>
              <a:t>   *</a:t>
            </a:r>
            <a:r>
              <a:rPr lang="en-US" altLang="ko-KR"/>
              <a:t> </a:t>
            </a:r>
            <a:r>
              <a:rPr lang="ko-KR" altLang="en-US" b="1" err="1"/>
              <a:t>가변수화</a:t>
            </a:r>
            <a:r>
              <a:rPr lang="en-US" b="1"/>
              <a:t>(One-hot Encoding):</a:t>
            </a:r>
            <a:endParaRPr lang="en-US"/>
          </a:p>
          <a:p>
            <a:r>
              <a:rPr lang="en-US"/>
              <a:t>     * </a:t>
            </a:r>
            <a:r>
              <a:rPr lang="en-US" err="1"/>
              <a:t>drop_first</a:t>
            </a:r>
            <a:r>
              <a:rPr lang="en-US"/>
              <a:t>=True</a:t>
            </a:r>
            <a:r>
              <a:rPr lang="en-US" altLang="ko-KR"/>
              <a:t> </a:t>
            </a:r>
            <a:r>
              <a:rPr lang="ko-KR" altLang="en-US" err="1"/>
              <a:t>옵션을</a:t>
            </a:r>
            <a:r>
              <a:rPr lang="en-US" altLang="ko-KR"/>
              <a:t> </a:t>
            </a:r>
            <a:r>
              <a:rPr lang="ko-KR" altLang="en-US" err="1"/>
              <a:t>주어</a:t>
            </a:r>
            <a:r>
              <a:rPr lang="en-US" altLang="ko-KR"/>
              <a:t> </a:t>
            </a:r>
            <a:r>
              <a:rPr lang="ko-KR" altLang="en-US" err="1"/>
              <a:t>다중공선성을</a:t>
            </a:r>
            <a:r>
              <a:rPr lang="en-US" altLang="ko-KR"/>
              <a:t> </a:t>
            </a:r>
            <a:r>
              <a:rPr lang="ko-KR" altLang="en-US" err="1"/>
              <a:t>방지</a:t>
            </a:r>
            <a:r>
              <a:rPr lang="en-US"/>
              <a:t>. (</a:t>
            </a:r>
            <a:r>
              <a:rPr lang="ko-KR" altLang="en-US"/>
              <a:t>예</a:t>
            </a:r>
            <a:r>
              <a:rPr lang="en-US"/>
              <a:t>: 5</a:t>
            </a:r>
            <a:r>
              <a:rPr lang="ko-KR" altLang="en-US"/>
              <a:t>점</a:t>
            </a:r>
            <a:r>
              <a:rPr lang="en-US" altLang="ko-KR"/>
              <a:t> </a:t>
            </a:r>
            <a:r>
              <a:rPr lang="ko-KR" altLang="en-US" err="1"/>
              <a:t>척도를</a:t>
            </a:r>
            <a:r>
              <a:rPr lang="en-US"/>
              <a:t> 4</a:t>
            </a:r>
            <a:r>
              <a:rPr lang="ko-KR" altLang="en-US"/>
              <a:t>개의</a:t>
            </a:r>
            <a:r>
              <a:rPr lang="en-US" altLang="ko-KR"/>
              <a:t> </a:t>
            </a:r>
            <a:r>
              <a:rPr lang="ko-KR" altLang="en-US" err="1"/>
              <a:t>파생</a:t>
            </a:r>
            <a:r>
              <a:rPr lang="en-US" altLang="ko-KR"/>
              <a:t> </a:t>
            </a:r>
            <a:r>
              <a:rPr lang="ko-KR" altLang="en-US" err="1"/>
              <a:t>변수로</a:t>
            </a:r>
            <a:r>
              <a:rPr lang="en-US" altLang="ko-KR"/>
              <a:t> </a:t>
            </a:r>
            <a:r>
              <a:rPr lang="ko-KR" altLang="en-US" err="1"/>
              <a:t>분리하여</a:t>
            </a:r>
            <a:r>
              <a:rPr lang="en-US" altLang="ko-KR"/>
              <a:t> </a:t>
            </a:r>
            <a:r>
              <a:rPr lang="ko-KR" altLang="en-US"/>
              <a:t>총</a:t>
            </a:r>
            <a:r>
              <a:rPr lang="en-US" altLang="ko-KR"/>
              <a:t> </a:t>
            </a:r>
            <a:r>
              <a:rPr lang="ko-KR" altLang="en-US" err="1"/>
              <a:t>컬럼</a:t>
            </a:r>
            <a:r>
              <a:rPr lang="en-US" altLang="ko-KR"/>
              <a:t> </a:t>
            </a:r>
            <a:r>
              <a:rPr lang="ko-KR" altLang="en-US" err="1"/>
              <a:t>수가</a:t>
            </a:r>
            <a:r>
              <a:rPr lang="en-US"/>
              <a:t> 79</a:t>
            </a:r>
            <a:r>
              <a:rPr lang="ko-KR" altLang="en-US"/>
              <a:t>개로</a:t>
            </a:r>
            <a:r>
              <a:rPr lang="en-US" altLang="ko-KR"/>
              <a:t> </a:t>
            </a:r>
            <a:r>
              <a:rPr lang="ko-KR" altLang="en-US" err="1"/>
              <a:t>증가하는</a:t>
            </a:r>
            <a:r>
              <a:rPr lang="en-US" altLang="ko-KR"/>
              <a:t> </a:t>
            </a:r>
            <a:r>
              <a:rPr lang="ko-KR" altLang="en-US" err="1"/>
              <a:t>원리</a:t>
            </a:r>
            <a:r>
              <a:rPr lang="en-US" altLang="ko-KR"/>
              <a:t> </a:t>
            </a:r>
            <a:r>
              <a:rPr lang="ko-KR" altLang="en-US" err="1"/>
              <a:t>공유</a:t>
            </a:r>
            <a:r>
              <a:rPr lang="en-US"/>
              <a:t>)</a:t>
            </a:r>
          </a:p>
          <a:p>
            <a:r>
              <a:rPr lang="en-US"/>
              <a:t>   *</a:t>
            </a:r>
            <a:r>
              <a:rPr lang="en-US" altLang="ko-KR"/>
              <a:t> </a:t>
            </a:r>
            <a:r>
              <a:rPr lang="ko-KR" altLang="en-US" b="1" err="1"/>
              <a:t>손실</a:t>
            </a:r>
            <a:r>
              <a:rPr lang="en-US" altLang="ko-KR" b="1"/>
              <a:t> </a:t>
            </a:r>
            <a:r>
              <a:rPr lang="ko-KR" altLang="en-US" b="1" err="1"/>
              <a:t>함수</a:t>
            </a:r>
            <a:r>
              <a:rPr lang="en-US" b="1"/>
              <a:t> (Loss Function)</a:t>
            </a:r>
            <a:r>
              <a:rPr lang="en-US" altLang="ko-KR" b="1"/>
              <a:t> </a:t>
            </a:r>
            <a:r>
              <a:rPr lang="ko-KR" altLang="en-US" b="1" err="1"/>
              <a:t>토의</a:t>
            </a:r>
            <a:r>
              <a:rPr lang="en-US" b="1"/>
              <a:t>:</a:t>
            </a:r>
            <a:endParaRPr lang="en-US"/>
          </a:p>
          <a:p>
            <a:r>
              <a:rPr lang="en-US"/>
              <a:t>     *</a:t>
            </a:r>
            <a:r>
              <a:rPr lang="en-US" altLang="ko-KR"/>
              <a:t> </a:t>
            </a:r>
            <a:r>
              <a:rPr lang="ko-KR" altLang="en-US" err="1"/>
              <a:t>이진</a:t>
            </a:r>
            <a:r>
              <a:rPr lang="en-US" altLang="ko-KR"/>
              <a:t> </a:t>
            </a:r>
            <a:r>
              <a:rPr lang="ko-KR" altLang="en-US" err="1"/>
              <a:t>분류</a:t>
            </a:r>
            <a:r>
              <a:rPr lang="en-US"/>
              <a:t>(0</a:t>
            </a:r>
            <a:r>
              <a:rPr lang="en-US" altLang="ko-KR"/>
              <a:t> </a:t>
            </a:r>
            <a:r>
              <a:rPr lang="ko-KR" altLang="en-US" err="1"/>
              <a:t>또는</a:t>
            </a:r>
            <a:r>
              <a:rPr lang="en-US"/>
              <a:t> 1)</a:t>
            </a:r>
            <a:r>
              <a:rPr lang="en-US" altLang="ko-KR"/>
              <a:t> </a:t>
            </a:r>
            <a:r>
              <a:rPr lang="ko-KR" altLang="en-US" err="1"/>
              <a:t>모델이므로</a:t>
            </a:r>
            <a:r>
              <a:rPr lang="en-US" altLang="ko-KR"/>
              <a:t> </a:t>
            </a:r>
            <a:r>
              <a:rPr lang="ko-KR" altLang="en-US" err="1"/>
              <a:t>베르누이</a:t>
            </a:r>
            <a:r>
              <a:rPr lang="en-US" altLang="ko-KR"/>
              <a:t> </a:t>
            </a:r>
            <a:r>
              <a:rPr lang="ko-KR" altLang="en-US" err="1"/>
              <a:t>분포에</a:t>
            </a:r>
            <a:r>
              <a:rPr lang="en-US" altLang="ko-KR"/>
              <a:t> </a:t>
            </a:r>
            <a:r>
              <a:rPr lang="ko-KR" altLang="en-US" err="1"/>
              <a:t>기반한</a:t>
            </a:r>
            <a:r>
              <a:rPr lang="en-US"/>
              <a:t> </a:t>
            </a:r>
            <a:r>
              <a:rPr lang="en-US" b="1"/>
              <a:t>BCE(Binary Cross Entropy)</a:t>
            </a:r>
            <a:r>
              <a:rPr lang="en-US" altLang="ko-KR"/>
              <a:t> </a:t>
            </a:r>
            <a:r>
              <a:rPr lang="ko-KR" altLang="en-US"/>
              <a:t>를</a:t>
            </a:r>
            <a:r>
              <a:rPr lang="en-US" altLang="ko-KR"/>
              <a:t> </a:t>
            </a:r>
            <a:r>
              <a:rPr lang="ko-KR" altLang="en-US" err="1"/>
              <a:t>사용하는</a:t>
            </a:r>
            <a:r>
              <a:rPr lang="en-US" altLang="ko-KR"/>
              <a:t> </a:t>
            </a:r>
            <a:r>
              <a:rPr lang="ko-KR" altLang="en-US" err="1"/>
              <a:t>것이</a:t>
            </a:r>
            <a:r>
              <a:rPr lang="en-US" altLang="ko-KR"/>
              <a:t> </a:t>
            </a:r>
            <a:r>
              <a:rPr lang="ko-KR" altLang="en-US" err="1"/>
              <a:t>수학적으로</a:t>
            </a:r>
            <a:r>
              <a:rPr lang="en-US" altLang="ko-KR"/>
              <a:t> </a:t>
            </a:r>
            <a:r>
              <a:rPr lang="ko-KR" altLang="en-US" err="1"/>
              <a:t>올바름을</a:t>
            </a:r>
            <a:r>
              <a:rPr lang="en-US" altLang="ko-KR"/>
              <a:t> </a:t>
            </a:r>
            <a:r>
              <a:rPr lang="ko-KR" altLang="en-US" err="1"/>
              <a:t>팀원</a:t>
            </a:r>
            <a:r>
              <a:rPr lang="en-US" altLang="ko-KR"/>
              <a:t> </a:t>
            </a:r>
            <a:r>
              <a:rPr lang="ko-KR" altLang="en-US"/>
              <a:t>간</a:t>
            </a:r>
            <a:r>
              <a:rPr lang="en-US" altLang="ko-KR"/>
              <a:t> </a:t>
            </a:r>
            <a:r>
              <a:rPr lang="ko-KR" altLang="en-US" err="1"/>
              <a:t>재확인</a:t>
            </a:r>
            <a:r>
              <a:rPr lang="en-US"/>
              <a:t>. (</a:t>
            </a:r>
            <a:r>
              <a:rPr lang="ko-KR" altLang="en-US" err="1"/>
              <a:t>연속된</a:t>
            </a:r>
            <a:r>
              <a:rPr lang="en-US" altLang="ko-KR"/>
              <a:t> </a:t>
            </a:r>
            <a:r>
              <a:rPr lang="ko-KR" altLang="en-US" err="1"/>
              <a:t>실수값을</a:t>
            </a:r>
            <a:r>
              <a:rPr lang="en-US" altLang="ko-KR"/>
              <a:t> </a:t>
            </a:r>
            <a:r>
              <a:rPr lang="ko-KR" altLang="en-US" err="1"/>
              <a:t>예측할</a:t>
            </a:r>
            <a:r>
              <a:rPr lang="en-US" altLang="ko-KR"/>
              <a:t> </a:t>
            </a:r>
            <a:r>
              <a:rPr lang="ko-KR" altLang="en-US"/>
              <a:t>때</a:t>
            </a:r>
            <a:r>
              <a:rPr lang="en-US" altLang="ko-KR"/>
              <a:t> </a:t>
            </a:r>
            <a:r>
              <a:rPr lang="ko-KR" altLang="en-US" err="1"/>
              <a:t>선형</a:t>
            </a:r>
            <a:r>
              <a:rPr lang="en-US" altLang="ko-KR"/>
              <a:t> </a:t>
            </a:r>
            <a:r>
              <a:rPr lang="ko-KR" altLang="en-US" err="1"/>
              <a:t>분포에</a:t>
            </a:r>
            <a:r>
              <a:rPr lang="en-US" altLang="ko-KR"/>
              <a:t> </a:t>
            </a:r>
            <a:r>
              <a:rPr lang="ko-KR" altLang="en-US" err="1"/>
              <a:t>기반한</a:t>
            </a:r>
            <a:r>
              <a:rPr lang="en-US"/>
              <a:t> </a:t>
            </a:r>
            <a:r>
              <a:rPr lang="en-US" err="1"/>
              <a:t>MSE</a:t>
            </a:r>
            <a:r>
              <a:rPr lang="ko-KR" altLang="en-US" err="1"/>
              <a:t>를</a:t>
            </a:r>
            <a:r>
              <a:rPr lang="en-US" altLang="ko-KR"/>
              <a:t> </a:t>
            </a:r>
            <a:r>
              <a:rPr lang="ko-KR" altLang="en-US" err="1"/>
              <a:t>사용</a:t>
            </a:r>
            <a:r>
              <a:rPr lang="en-US"/>
              <a:t>)</a:t>
            </a:r>
          </a:p>
          <a:p>
            <a:r>
              <a:rPr lang="en-US"/>
              <a:t>   *</a:t>
            </a:r>
            <a:r>
              <a:rPr lang="en-US" altLang="ko-KR"/>
              <a:t> </a:t>
            </a:r>
            <a:r>
              <a:rPr lang="ko-KR" altLang="en-US" b="1" err="1"/>
              <a:t>딥러닝</a:t>
            </a:r>
            <a:r>
              <a:rPr lang="en-US" altLang="ko-KR" b="1"/>
              <a:t> </a:t>
            </a:r>
            <a:r>
              <a:rPr lang="ko-KR" altLang="en-US" b="1" err="1"/>
              <a:t>아키텍처</a:t>
            </a:r>
            <a:r>
              <a:rPr lang="en-US" altLang="ko-KR" b="1"/>
              <a:t> </a:t>
            </a:r>
            <a:r>
              <a:rPr lang="ko-KR" altLang="en-US" b="1"/>
              <a:t>및</a:t>
            </a:r>
            <a:r>
              <a:rPr lang="en-US" altLang="ko-KR" b="1"/>
              <a:t> </a:t>
            </a:r>
            <a:r>
              <a:rPr lang="ko-KR" altLang="en-US" b="1" err="1"/>
              <a:t>튜닝</a:t>
            </a:r>
            <a:r>
              <a:rPr lang="en-US" altLang="ko-KR" b="1"/>
              <a:t> </a:t>
            </a:r>
            <a:r>
              <a:rPr lang="ko-KR" altLang="en-US" b="1" err="1"/>
              <a:t>전략</a:t>
            </a:r>
            <a:r>
              <a:rPr lang="en-US" altLang="ko-KR" b="1"/>
              <a:t> </a:t>
            </a:r>
            <a:r>
              <a:rPr lang="ko-KR" altLang="en-US" b="1" err="1"/>
              <a:t>공유</a:t>
            </a:r>
            <a:r>
              <a:rPr lang="en-US" b="1"/>
              <a:t>:</a:t>
            </a:r>
            <a:endParaRPr lang="en-US"/>
          </a:p>
          <a:p>
            <a:r>
              <a:rPr lang="en-US"/>
              <a:t>     *</a:t>
            </a:r>
            <a:r>
              <a:rPr lang="en-US" altLang="ko-KR"/>
              <a:t> </a:t>
            </a:r>
            <a:r>
              <a:rPr lang="ko-KR" altLang="en-US" b="1" err="1"/>
              <a:t>네트워크</a:t>
            </a:r>
            <a:r>
              <a:rPr lang="en-US" altLang="ko-KR" b="1"/>
              <a:t> </a:t>
            </a:r>
            <a:r>
              <a:rPr lang="ko-KR" altLang="en-US" b="1" err="1"/>
              <a:t>구조</a:t>
            </a:r>
            <a:r>
              <a:rPr lang="en-US" b="1"/>
              <a:t>:</a:t>
            </a:r>
            <a:r>
              <a:rPr lang="en-US" altLang="ko-KR"/>
              <a:t> </a:t>
            </a:r>
            <a:r>
              <a:rPr lang="ko-KR" altLang="en-US" err="1"/>
              <a:t>대부분</a:t>
            </a:r>
            <a:r>
              <a:rPr lang="en-US"/>
              <a:t> 64</a:t>
            </a:r>
            <a:r>
              <a:rPr lang="ko-KR" altLang="en-US"/>
              <a:t>차원이나</a:t>
            </a:r>
            <a:r>
              <a:rPr lang="en-US"/>
              <a:t> 128</a:t>
            </a:r>
            <a:r>
              <a:rPr lang="ko-KR" altLang="en-US"/>
              <a:t>차원에서</a:t>
            </a:r>
            <a:r>
              <a:rPr lang="en-US" altLang="ko-KR"/>
              <a:t> </a:t>
            </a:r>
            <a:r>
              <a:rPr lang="ko-KR" altLang="en-US" err="1"/>
              <a:t>시작하여</a:t>
            </a:r>
            <a:r>
              <a:rPr lang="en-US" altLang="ko-KR"/>
              <a:t> </a:t>
            </a:r>
            <a:r>
              <a:rPr lang="ko-KR" altLang="en-US" err="1"/>
              <a:t>절반씩</a:t>
            </a:r>
            <a:r>
              <a:rPr lang="en-US"/>
              <a:t>(64-&gt;32-&gt;16-&gt;8)</a:t>
            </a:r>
            <a:r>
              <a:rPr lang="en-US" altLang="ko-KR"/>
              <a:t> </a:t>
            </a:r>
            <a:r>
              <a:rPr lang="ko-KR" altLang="en-US" err="1"/>
              <a:t>줄여나가는</a:t>
            </a:r>
            <a:r>
              <a:rPr lang="en-US"/>
              <a:t> Dense</a:t>
            </a:r>
            <a:r>
              <a:rPr lang="en-US" altLang="ko-KR"/>
              <a:t> </a:t>
            </a:r>
            <a:r>
              <a:rPr lang="ko-KR" altLang="en-US" err="1"/>
              <a:t>레이어</a:t>
            </a:r>
            <a:r>
              <a:rPr lang="en-US" altLang="ko-KR"/>
              <a:t> </a:t>
            </a:r>
            <a:r>
              <a:rPr lang="ko-KR" altLang="en-US" err="1"/>
              <a:t>구성</a:t>
            </a:r>
            <a:r>
              <a:rPr lang="en-US"/>
              <a:t> (</a:t>
            </a:r>
            <a:r>
              <a:rPr lang="ko-KR" altLang="en-US" err="1"/>
              <a:t>활성화</a:t>
            </a:r>
            <a:r>
              <a:rPr lang="en-US" altLang="ko-KR"/>
              <a:t> </a:t>
            </a:r>
            <a:r>
              <a:rPr lang="ko-KR" altLang="en-US" err="1"/>
              <a:t>함수</a:t>
            </a:r>
            <a:r>
              <a:rPr lang="en-US"/>
              <a:t>:</a:t>
            </a:r>
            <a:r>
              <a:rPr lang="en-US" altLang="ko-KR"/>
              <a:t> </a:t>
            </a:r>
            <a:r>
              <a:rPr lang="ko-KR" altLang="en-US" err="1"/>
              <a:t>은닉층</a:t>
            </a:r>
            <a:r>
              <a:rPr lang="en-US"/>
              <a:t> </a:t>
            </a:r>
            <a:r>
              <a:rPr lang="en-US" err="1"/>
              <a:t>ReLU</a:t>
            </a:r>
            <a:r>
              <a:rPr lang="en-US"/>
              <a:t>,</a:t>
            </a:r>
            <a:r>
              <a:rPr lang="en-US" altLang="ko-KR"/>
              <a:t> </a:t>
            </a:r>
            <a:r>
              <a:rPr lang="ko-KR" altLang="en-US" err="1"/>
              <a:t>출력층</a:t>
            </a:r>
            <a:r>
              <a:rPr lang="en-US"/>
              <a:t> Sigmoid).</a:t>
            </a:r>
          </a:p>
          <a:p>
            <a:r>
              <a:rPr lang="en-US"/>
              <a:t>     *</a:t>
            </a:r>
            <a:r>
              <a:rPr lang="en-US" altLang="ko-KR"/>
              <a:t> </a:t>
            </a:r>
            <a:r>
              <a:rPr lang="ko-KR" altLang="en-US" b="1" err="1"/>
              <a:t>조기</a:t>
            </a:r>
            <a:r>
              <a:rPr lang="en-US" altLang="ko-KR" b="1"/>
              <a:t> </a:t>
            </a:r>
            <a:r>
              <a:rPr lang="ko-KR" altLang="en-US" b="1" err="1"/>
              <a:t>종료</a:t>
            </a:r>
            <a:r>
              <a:rPr lang="en-US" b="1"/>
              <a:t> (Early Stopping):</a:t>
            </a:r>
            <a:r>
              <a:rPr lang="en-US"/>
              <a:t> </a:t>
            </a:r>
            <a:r>
              <a:rPr lang="en-US" err="1"/>
              <a:t>val_loss</a:t>
            </a:r>
            <a:r>
              <a:rPr lang="ko-KR" altLang="en-US" err="1"/>
              <a:t>를</a:t>
            </a:r>
            <a:r>
              <a:rPr lang="en-US" altLang="ko-KR"/>
              <a:t> </a:t>
            </a:r>
            <a:r>
              <a:rPr lang="ko-KR" altLang="en-US" err="1"/>
              <a:t>모니터링</a:t>
            </a:r>
            <a:r>
              <a:rPr lang="en-US" altLang="ko-KR"/>
              <a:t> </a:t>
            </a:r>
            <a:r>
              <a:rPr lang="ko-KR" altLang="en-US" err="1"/>
              <a:t>기준으로</a:t>
            </a:r>
            <a:r>
              <a:rPr lang="en-US" altLang="ko-KR"/>
              <a:t> </a:t>
            </a:r>
            <a:r>
              <a:rPr lang="ko-KR" altLang="en-US" err="1"/>
              <a:t>삼고</a:t>
            </a:r>
            <a:r>
              <a:rPr lang="en-US"/>
              <a:t> patience</a:t>
            </a:r>
            <a:r>
              <a:rPr lang="en-US" altLang="ko-KR"/>
              <a:t> </a:t>
            </a:r>
            <a:r>
              <a:rPr lang="ko-KR" altLang="en-US" err="1"/>
              <a:t>부여</a:t>
            </a:r>
            <a:r>
              <a:rPr lang="en-US"/>
              <a:t>.</a:t>
            </a:r>
            <a:r>
              <a:rPr lang="en-US" altLang="ko-KR"/>
              <a:t> </a:t>
            </a:r>
            <a:r>
              <a:rPr lang="ko-KR" altLang="en-US" err="1"/>
              <a:t>특히</a:t>
            </a:r>
            <a:r>
              <a:rPr lang="en-US"/>
              <a:t> </a:t>
            </a:r>
            <a:r>
              <a:rPr lang="en-US" b="1" err="1"/>
              <a:t>restore_best_weights</a:t>
            </a:r>
            <a:r>
              <a:rPr lang="en-US" b="1"/>
              <a:t>=True</a:t>
            </a:r>
            <a:r>
              <a:rPr lang="en-US" altLang="ko-KR"/>
              <a:t> </a:t>
            </a:r>
            <a:r>
              <a:rPr lang="ko-KR" altLang="en-US" err="1"/>
              <a:t>옵션을</a:t>
            </a:r>
            <a:r>
              <a:rPr lang="en-US" altLang="ko-KR"/>
              <a:t> </a:t>
            </a:r>
            <a:r>
              <a:rPr lang="ko-KR" altLang="en-US" err="1"/>
              <a:t>사용하여</a:t>
            </a:r>
            <a:r>
              <a:rPr lang="en-US" altLang="ko-KR"/>
              <a:t> </a:t>
            </a:r>
            <a:r>
              <a:rPr lang="ko-KR" altLang="en-US" err="1"/>
              <a:t>학습</a:t>
            </a:r>
            <a:r>
              <a:rPr lang="en-US" altLang="ko-KR"/>
              <a:t> </a:t>
            </a:r>
            <a:r>
              <a:rPr lang="ko-KR" altLang="en-US" err="1"/>
              <a:t>중단</a:t>
            </a:r>
            <a:r>
              <a:rPr lang="en-US" altLang="ko-KR"/>
              <a:t> </a:t>
            </a:r>
            <a:r>
              <a:rPr lang="ko-KR" altLang="en-US"/>
              <a:t>시</a:t>
            </a:r>
            <a:r>
              <a:rPr lang="en-US" altLang="ko-KR"/>
              <a:t> </a:t>
            </a:r>
            <a:r>
              <a:rPr lang="ko-KR" altLang="en-US" err="1"/>
              <a:t>가장</a:t>
            </a:r>
            <a:r>
              <a:rPr lang="en-US" altLang="ko-KR"/>
              <a:t> </a:t>
            </a:r>
            <a:r>
              <a:rPr lang="ko-KR" altLang="en-US" err="1"/>
              <a:t>성능이</a:t>
            </a:r>
            <a:r>
              <a:rPr lang="en-US" altLang="ko-KR"/>
              <a:t> </a:t>
            </a:r>
            <a:r>
              <a:rPr lang="ko-KR" altLang="en-US" err="1"/>
              <a:t>좋았던</a:t>
            </a:r>
            <a:r>
              <a:rPr lang="en-US" altLang="ko-KR"/>
              <a:t> </a:t>
            </a:r>
            <a:r>
              <a:rPr lang="ko-KR" altLang="en-US" err="1"/>
              <a:t>에포크의</a:t>
            </a:r>
            <a:r>
              <a:rPr lang="en-US" altLang="ko-KR"/>
              <a:t> </a:t>
            </a:r>
            <a:r>
              <a:rPr lang="ko-KR" altLang="en-US" err="1"/>
              <a:t>가중치로</a:t>
            </a:r>
            <a:r>
              <a:rPr lang="en-US" altLang="ko-KR"/>
              <a:t> </a:t>
            </a:r>
            <a:r>
              <a:rPr lang="ko-KR" altLang="en-US" err="1"/>
              <a:t>모델을</a:t>
            </a:r>
            <a:r>
              <a:rPr lang="en-US" altLang="ko-KR"/>
              <a:t> </a:t>
            </a:r>
            <a:r>
              <a:rPr lang="ko-KR" altLang="en-US" err="1"/>
              <a:t>복원하는</a:t>
            </a:r>
            <a:r>
              <a:rPr lang="en-US" altLang="ko-KR"/>
              <a:t> </a:t>
            </a:r>
            <a:r>
              <a:rPr lang="ko-KR" altLang="en-US" err="1"/>
              <a:t>꿀팁</a:t>
            </a:r>
            <a:r>
              <a:rPr lang="en-US" altLang="ko-KR"/>
              <a:t> </a:t>
            </a:r>
            <a:r>
              <a:rPr lang="ko-KR" altLang="en-US" err="1"/>
              <a:t>공유</a:t>
            </a:r>
            <a:r>
              <a:rPr lang="en-US"/>
              <a:t>.</a:t>
            </a:r>
          </a:p>
          <a:p>
            <a:r>
              <a:rPr lang="en-US"/>
              <a:t>     *</a:t>
            </a:r>
            <a:r>
              <a:rPr lang="en-US" altLang="ko-KR"/>
              <a:t> </a:t>
            </a:r>
            <a:r>
              <a:rPr lang="ko-KR" altLang="en-US" b="1" err="1"/>
              <a:t>과적합</a:t>
            </a:r>
            <a:r>
              <a:rPr lang="en-US" altLang="ko-KR" b="1"/>
              <a:t> </a:t>
            </a:r>
            <a:r>
              <a:rPr lang="ko-KR" altLang="en-US" b="1" err="1"/>
              <a:t>방지</a:t>
            </a:r>
            <a:r>
              <a:rPr lang="en-US" b="1"/>
              <a:t> (Dropout &amp; Regularization):</a:t>
            </a:r>
            <a:endParaRPr lang="en-US"/>
          </a:p>
          <a:p>
            <a:r>
              <a:rPr lang="en-US"/>
              <a:t>       * Dropout</a:t>
            </a:r>
            <a:r>
              <a:rPr lang="en-US" altLang="ko-KR"/>
              <a:t> </a:t>
            </a:r>
            <a:r>
              <a:rPr lang="ko-KR" altLang="en-US" err="1"/>
              <a:t>비율을</a:t>
            </a:r>
            <a:r>
              <a:rPr lang="en-US"/>
              <a:t> 0.2~0.3</a:t>
            </a:r>
            <a:r>
              <a:rPr lang="en-US" altLang="ko-KR"/>
              <a:t> </a:t>
            </a:r>
            <a:r>
              <a:rPr lang="ko-KR" altLang="en-US" err="1"/>
              <a:t>수준으로</a:t>
            </a:r>
            <a:r>
              <a:rPr lang="en-US" altLang="ko-KR"/>
              <a:t> </a:t>
            </a:r>
            <a:r>
              <a:rPr lang="ko-KR" altLang="en-US" err="1"/>
              <a:t>주었으나</a:t>
            </a:r>
            <a:r>
              <a:rPr lang="en-US"/>
              <a:t>,</a:t>
            </a:r>
            <a:r>
              <a:rPr lang="en-US" altLang="ko-KR"/>
              <a:t> </a:t>
            </a:r>
            <a:r>
              <a:rPr lang="ko-KR" altLang="en-US" err="1"/>
              <a:t>컬럼</a:t>
            </a:r>
            <a:r>
              <a:rPr lang="en-US" altLang="ko-KR"/>
              <a:t> </a:t>
            </a:r>
            <a:r>
              <a:rPr lang="ko-KR" altLang="en-US" err="1"/>
              <a:t>수가</a:t>
            </a:r>
            <a:r>
              <a:rPr lang="en-US" altLang="ko-KR"/>
              <a:t> </a:t>
            </a:r>
            <a:r>
              <a:rPr lang="ko-KR" altLang="en-US" err="1"/>
              <a:t>적은</a:t>
            </a:r>
            <a:r>
              <a:rPr lang="en-US" altLang="ko-KR"/>
              <a:t> </a:t>
            </a:r>
            <a:r>
              <a:rPr lang="ko-KR" altLang="en-US" err="1"/>
              <a:t>데이터</a:t>
            </a:r>
            <a:r>
              <a:rPr lang="en-US" altLang="ko-KR"/>
              <a:t> </a:t>
            </a:r>
            <a:r>
              <a:rPr lang="ko-KR" altLang="en-US" err="1"/>
              <a:t>특성상</a:t>
            </a:r>
            <a:r>
              <a:rPr lang="en-US" altLang="ko-KR"/>
              <a:t> </a:t>
            </a:r>
            <a:r>
              <a:rPr lang="ko-KR" altLang="en-US" err="1"/>
              <a:t>오히려</a:t>
            </a:r>
            <a:r>
              <a:rPr lang="en-US" altLang="ko-KR"/>
              <a:t> </a:t>
            </a:r>
            <a:r>
              <a:rPr lang="ko-KR" altLang="en-US" err="1"/>
              <a:t>성능이</a:t>
            </a:r>
            <a:r>
              <a:rPr lang="en-US" altLang="ko-KR"/>
              <a:t> </a:t>
            </a:r>
            <a:r>
              <a:rPr lang="ko-KR" altLang="en-US" err="1"/>
              <a:t>저하되는</a:t>
            </a:r>
            <a:r>
              <a:rPr lang="en-US" altLang="ko-KR"/>
              <a:t> </a:t>
            </a:r>
            <a:r>
              <a:rPr lang="ko-KR" altLang="en-US" err="1"/>
              <a:t>케이스가</a:t>
            </a:r>
            <a:r>
              <a:rPr lang="en-US" altLang="ko-KR"/>
              <a:t> </a:t>
            </a:r>
            <a:r>
              <a:rPr lang="ko-KR" altLang="en-US" err="1"/>
              <a:t>발생하여</a:t>
            </a:r>
            <a:r>
              <a:rPr lang="en-US"/>
              <a:t> 0.1</a:t>
            </a:r>
            <a:r>
              <a:rPr lang="ko-KR" altLang="en-US"/>
              <a:t>로</a:t>
            </a:r>
            <a:r>
              <a:rPr lang="en-US" altLang="ko-KR"/>
              <a:t> </a:t>
            </a:r>
            <a:r>
              <a:rPr lang="ko-KR" altLang="en-US" err="1"/>
              <a:t>낮추거나</a:t>
            </a:r>
            <a:r>
              <a:rPr lang="en-US" altLang="ko-KR"/>
              <a:t> </a:t>
            </a:r>
            <a:r>
              <a:rPr lang="ko-KR" altLang="en-US" err="1"/>
              <a:t>미사용</a:t>
            </a:r>
            <a:r>
              <a:rPr lang="en-US"/>
              <a:t>(0)</a:t>
            </a:r>
            <a:r>
              <a:rPr lang="ko-KR" altLang="en-US"/>
              <a:t>한</a:t>
            </a:r>
            <a:r>
              <a:rPr lang="en-US" altLang="ko-KR"/>
              <a:t> </a:t>
            </a:r>
            <a:r>
              <a:rPr lang="ko-KR" altLang="en-US" err="1"/>
              <a:t>팀원의</a:t>
            </a:r>
            <a:r>
              <a:rPr lang="en-US" altLang="ko-KR"/>
              <a:t> </a:t>
            </a:r>
            <a:r>
              <a:rPr lang="ko-KR" altLang="en-US" err="1"/>
              <a:t>결과가</a:t>
            </a:r>
            <a:r>
              <a:rPr lang="en-US" altLang="ko-KR"/>
              <a:t> </a:t>
            </a:r>
            <a:r>
              <a:rPr lang="ko-KR" altLang="en-US" err="1"/>
              <a:t>좋았음</a:t>
            </a:r>
            <a:r>
              <a:rPr lang="en-US"/>
              <a:t>.</a:t>
            </a:r>
          </a:p>
          <a:p>
            <a:r>
              <a:rPr lang="en-US"/>
              <a:t>       * L1/L2</a:t>
            </a:r>
            <a:r>
              <a:rPr lang="en-US" altLang="ko-KR"/>
              <a:t> </a:t>
            </a:r>
            <a:r>
              <a:rPr lang="ko-KR" altLang="en-US" err="1"/>
              <a:t>정규화</a:t>
            </a:r>
            <a:r>
              <a:rPr lang="en-US"/>
              <a:t>(Regularization)</a:t>
            </a:r>
            <a:r>
              <a:rPr lang="ko-KR" altLang="en-US"/>
              <a:t>를</a:t>
            </a:r>
            <a:r>
              <a:rPr lang="en-US" altLang="ko-KR"/>
              <a:t> </a:t>
            </a:r>
            <a:r>
              <a:rPr lang="ko-KR" altLang="en-US" err="1"/>
              <a:t>시도하여</a:t>
            </a:r>
            <a:r>
              <a:rPr lang="en-US" altLang="ko-KR"/>
              <a:t> </a:t>
            </a:r>
            <a:r>
              <a:rPr lang="ko-KR" altLang="en-US" err="1"/>
              <a:t>가중치가</a:t>
            </a:r>
            <a:r>
              <a:rPr lang="en-US" altLang="ko-KR"/>
              <a:t> </a:t>
            </a:r>
            <a:r>
              <a:rPr lang="ko-KR" altLang="en-US" err="1"/>
              <a:t>비정상적으로</a:t>
            </a:r>
            <a:r>
              <a:rPr lang="en-US" altLang="ko-KR"/>
              <a:t> </a:t>
            </a:r>
            <a:r>
              <a:rPr lang="ko-KR" altLang="en-US" err="1"/>
              <a:t>커지는</a:t>
            </a:r>
            <a:r>
              <a:rPr lang="en-US" altLang="ko-KR"/>
              <a:t> </a:t>
            </a:r>
            <a:r>
              <a:rPr lang="ko-KR" altLang="en-US" err="1"/>
              <a:t>것을</a:t>
            </a:r>
            <a:r>
              <a:rPr lang="en-US" altLang="ko-KR"/>
              <a:t> </a:t>
            </a:r>
            <a:r>
              <a:rPr lang="ko-KR" altLang="en-US" err="1"/>
              <a:t>방지하려</a:t>
            </a:r>
            <a:r>
              <a:rPr lang="en-US" altLang="ko-KR"/>
              <a:t> </a:t>
            </a:r>
            <a:r>
              <a:rPr lang="ko-KR" altLang="en-US"/>
              <a:t>한</a:t>
            </a:r>
            <a:r>
              <a:rPr lang="en-US" altLang="ko-KR"/>
              <a:t> </a:t>
            </a:r>
            <a:r>
              <a:rPr lang="ko-KR" altLang="en-US" err="1"/>
              <a:t>팀원의</a:t>
            </a:r>
            <a:r>
              <a:rPr lang="en-US" altLang="ko-KR"/>
              <a:t> </a:t>
            </a:r>
            <a:r>
              <a:rPr lang="ko-KR" altLang="en-US" err="1"/>
              <a:t>사례</a:t>
            </a:r>
            <a:r>
              <a:rPr lang="en-US" altLang="ko-KR"/>
              <a:t> </a:t>
            </a:r>
            <a:r>
              <a:rPr lang="ko-KR" altLang="en-US" err="1"/>
              <a:t>발표</a:t>
            </a:r>
            <a:r>
              <a:rPr lang="en-US"/>
              <a:t>.</a:t>
            </a:r>
          </a:p>
          <a:p>
            <a:r>
              <a:rPr lang="en-US"/>
              <a:t>     *</a:t>
            </a:r>
            <a:r>
              <a:rPr lang="en-US" altLang="ko-KR"/>
              <a:t> </a:t>
            </a:r>
            <a:r>
              <a:rPr lang="ko-KR" altLang="en-US" b="1" err="1"/>
              <a:t>학습률</a:t>
            </a:r>
            <a:r>
              <a:rPr lang="en-US" b="1"/>
              <a:t> (Learning Rate):</a:t>
            </a:r>
            <a:r>
              <a:rPr lang="en-US" altLang="ko-KR"/>
              <a:t> </a:t>
            </a:r>
            <a:r>
              <a:rPr lang="ko-KR" altLang="en-US" err="1"/>
              <a:t>옵티마이저</a:t>
            </a:r>
            <a:r>
              <a:rPr lang="en-US"/>
              <a:t>(Adam)</a:t>
            </a:r>
            <a:r>
              <a:rPr lang="ko-KR" altLang="en-US"/>
              <a:t>의</a:t>
            </a:r>
            <a:r>
              <a:rPr lang="en-US" altLang="ko-KR"/>
              <a:t> </a:t>
            </a:r>
            <a:r>
              <a:rPr lang="ko-KR" altLang="en-US" err="1"/>
              <a:t>학습률을</a:t>
            </a:r>
            <a:r>
              <a:rPr lang="en-US" altLang="ko-KR"/>
              <a:t> </a:t>
            </a:r>
            <a:r>
              <a:rPr lang="ko-KR" altLang="en-US" err="1"/>
              <a:t>기본값보다</a:t>
            </a:r>
            <a:r>
              <a:rPr lang="en-US" altLang="ko-KR"/>
              <a:t> </a:t>
            </a:r>
            <a:r>
              <a:rPr lang="ko-KR" altLang="en-US" err="1"/>
              <a:t>낮은</a:t>
            </a:r>
            <a:r>
              <a:rPr lang="en-US"/>
              <a:t> 0.001</a:t>
            </a:r>
            <a:r>
              <a:rPr lang="en-US" altLang="ko-KR"/>
              <a:t> </a:t>
            </a:r>
            <a:r>
              <a:rPr lang="ko-KR" altLang="en-US" err="1"/>
              <a:t>또는</a:t>
            </a:r>
            <a:r>
              <a:rPr lang="en-US"/>
              <a:t> 0.0005</a:t>
            </a:r>
            <a:r>
              <a:rPr lang="ko-KR" altLang="en-US"/>
              <a:t>로</a:t>
            </a:r>
            <a:r>
              <a:rPr lang="en-US" altLang="ko-KR"/>
              <a:t> </a:t>
            </a:r>
            <a:r>
              <a:rPr lang="ko-KR" altLang="en-US" err="1"/>
              <a:t>세밀하게</a:t>
            </a:r>
            <a:r>
              <a:rPr lang="en-US" altLang="ko-KR"/>
              <a:t> </a:t>
            </a:r>
            <a:r>
              <a:rPr lang="ko-KR" altLang="en-US" err="1"/>
              <a:t>설정했을</a:t>
            </a:r>
            <a:r>
              <a:rPr lang="en-US" altLang="ko-KR"/>
              <a:t> </a:t>
            </a:r>
            <a:r>
              <a:rPr lang="ko-KR" altLang="en-US"/>
              <a:t>때</a:t>
            </a:r>
            <a:r>
              <a:rPr lang="en-US" altLang="ko-KR"/>
              <a:t> </a:t>
            </a:r>
            <a:r>
              <a:rPr lang="ko-KR" altLang="en-US" err="1"/>
              <a:t>성능</a:t>
            </a:r>
            <a:r>
              <a:rPr lang="en-US" altLang="ko-KR"/>
              <a:t> </a:t>
            </a:r>
            <a:r>
              <a:rPr lang="ko-KR" altLang="en-US" err="1"/>
              <a:t>곡선이</a:t>
            </a:r>
            <a:r>
              <a:rPr lang="en-US" altLang="ko-KR"/>
              <a:t> </a:t>
            </a:r>
            <a:r>
              <a:rPr lang="ko-KR" altLang="en-US"/>
              <a:t>더</a:t>
            </a:r>
            <a:r>
              <a:rPr lang="en-US" altLang="ko-KR"/>
              <a:t> </a:t>
            </a:r>
            <a:r>
              <a:rPr lang="ko-KR" altLang="en-US" err="1"/>
              <a:t>안정적으로</a:t>
            </a:r>
            <a:r>
              <a:rPr lang="en-US" altLang="ko-KR"/>
              <a:t> </a:t>
            </a:r>
            <a:r>
              <a:rPr lang="ko-KR" altLang="en-US" err="1"/>
              <a:t>수렴함</a:t>
            </a:r>
            <a:r>
              <a:rPr lang="en-US"/>
              <a:t>(Accuracy/F1-Score</a:t>
            </a:r>
            <a:r>
              <a:rPr lang="en-US" altLang="ko-KR"/>
              <a:t> </a:t>
            </a:r>
            <a:r>
              <a:rPr lang="ko-KR" altLang="en-US"/>
              <a:t>약</a:t>
            </a:r>
            <a:r>
              <a:rPr lang="en-US"/>
              <a:t> 0.83~0.85</a:t>
            </a:r>
            <a:r>
              <a:rPr lang="en-US" altLang="ko-KR"/>
              <a:t> </a:t>
            </a:r>
            <a:r>
              <a:rPr lang="ko-KR" altLang="en-US" err="1"/>
              <a:t>수준</a:t>
            </a:r>
            <a:r>
              <a:rPr lang="en-US" altLang="ko-KR"/>
              <a:t> </a:t>
            </a:r>
            <a:r>
              <a:rPr lang="ko-KR" altLang="en-US" err="1"/>
              <a:t>달성</a:t>
            </a:r>
            <a:r>
              <a:rPr lang="en-US"/>
              <a:t>).</a:t>
            </a:r>
          </a:p>
          <a:p>
            <a:br>
              <a:rPr lang="en-US"/>
            </a:br>
            <a:endParaRPr lang="en-US"/>
          </a:p>
          <a:p>
            <a:r>
              <a:rPr lang="en-US"/>
              <a:t>  </a:t>
            </a:r>
            <a:r>
              <a:rPr lang="en-US" b="1"/>
              <a:t>5.</a:t>
            </a:r>
            <a:r>
              <a:rPr lang="en-US" altLang="ko-KR" b="1"/>
              <a:t> </a:t>
            </a:r>
            <a:r>
              <a:rPr lang="ko-KR" altLang="en-US" b="1" err="1"/>
              <a:t>아이스브레이킹</a:t>
            </a:r>
            <a:r>
              <a:rPr lang="en-US" altLang="ko-KR" b="1"/>
              <a:t> </a:t>
            </a:r>
            <a:r>
              <a:rPr lang="ko-KR" altLang="en-US" b="1"/>
              <a:t>및</a:t>
            </a:r>
            <a:r>
              <a:rPr lang="en-US" altLang="ko-KR" b="1"/>
              <a:t> </a:t>
            </a:r>
            <a:r>
              <a:rPr lang="ko-KR" altLang="en-US" b="1" err="1"/>
              <a:t>향후</a:t>
            </a:r>
            <a:r>
              <a:rPr lang="en-US" altLang="ko-KR" b="1"/>
              <a:t> </a:t>
            </a:r>
            <a:r>
              <a:rPr lang="ko-KR" altLang="en-US" b="1" err="1"/>
              <a:t>계획</a:t>
            </a:r>
            <a:endParaRPr lang="en-US" err="1"/>
          </a:p>
          <a:p>
            <a:r>
              <a:rPr lang="en-US"/>
              <a:t>   *</a:t>
            </a:r>
            <a:r>
              <a:rPr lang="en-US" altLang="ko-KR"/>
              <a:t> </a:t>
            </a:r>
            <a:r>
              <a:rPr lang="ko-KR" altLang="en-US" b="1" err="1"/>
              <a:t>내일</a:t>
            </a:r>
            <a:r>
              <a:rPr lang="en-US" b="1"/>
              <a:t>(</a:t>
            </a:r>
            <a:r>
              <a:rPr lang="ko-KR" altLang="en-US" b="1"/>
              <a:t>수</a:t>
            </a:r>
            <a:r>
              <a:rPr lang="en-US" b="1"/>
              <a:t>)</a:t>
            </a:r>
            <a:r>
              <a:rPr lang="en-US" altLang="ko-KR" b="1"/>
              <a:t> </a:t>
            </a:r>
            <a:r>
              <a:rPr lang="ko-KR" altLang="en-US" b="1" err="1"/>
              <a:t>진행</a:t>
            </a:r>
            <a:r>
              <a:rPr lang="en-US" altLang="ko-KR" b="1"/>
              <a:t> </a:t>
            </a:r>
            <a:r>
              <a:rPr lang="ko-KR" altLang="en-US" b="1" err="1"/>
              <a:t>과제</a:t>
            </a:r>
            <a:r>
              <a:rPr lang="en-US" b="1"/>
              <a:t> (Mission 9~10):</a:t>
            </a:r>
            <a:endParaRPr lang="en-US"/>
          </a:p>
          <a:p>
            <a:r>
              <a:rPr lang="en-US"/>
              <a:t>     *</a:t>
            </a:r>
            <a:r>
              <a:rPr lang="en-US" altLang="ko-KR"/>
              <a:t> </a:t>
            </a:r>
            <a:r>
              <a:rPr lang="ko-KR" altLang="en-US" err="1"/>
              <a:t>오늘</a:t>
            </a:r>
            <a:r>
              <a:rPr lang="en-US" altLang="ko-KR"/>
              <a:t> </a:t>
            </a:r>
            <a:r>
              <a:rPr lang="ko-KR" altLang="en-US" err="1"/>
              <a:t>구축한</a:t>
            </a:r>
            <a:r>
              <a:rPr lang="en-US" altLang="ko-KR"/>
              <a:t> </a:t>
            </a:r>
            <a:r>
              <a:rPr lang="ko-KR" altLang="en-US" err="1"/>
              <a:t>베이스</a:t>
            </a:r>
            <a:r>
              <a:rPr lang="en-US" altLang="ko-KR"/>
              <a:t> </a:t>
            </a:r>
            <a:r>
              <a:rPr lang="ko-KR" altLang="en-US" err="1"/>
              <a:t>모델에</a:t>
            </a:r>
            <a:r>
              <a:rPr lang="en-US" altLang="ko-KR"/>
              <a:t> </a:t>
            </a:r>
            <a:r>
              <a:rPr lang="ko-KR" altLang="en-US" err="1"/>
              <a:t>새로운</a:t>
            </a:r>
            <a:r>
              <a:rPr lang="en-US" altLang="ko-KR"/>
              <a:t> </a:t>
            </a:r>
            <a:r>
              <a:rPr lang="ko-KR" altLang="en-US" err="1"/>
              <a:t>데이터를</a:t>
            </a:r>
            <a:r>
              <a:rPr lang="en-US" altLang="ko-KR"/>
              <a:t> </a:t>
            </a:r>
            <a:r>
              <a:rPr lang="ko-KR" altLang="en-US" err="1"/>
              <a:t>추가</a:t>
            </a:r>
            <a:r>
              <a:rPr lang="en-US" altLang="ko-KR"/>
              <a:t> </a:t>
            </a:r>
            <a:r>
              <a:rPr lang="ko-KR" altLang="en-US" err="1"/>
              <a:t>학습</a:t>
            </a:r>
            <a:r>
              <a:rPr lang="en-US"/>
              <a:t>(Fine-tuning/Transfer learning</a:t>
            </a:r>
            <a:r>
              <a:rPr lang="en-US" altLang="ko-KR"/>
              <a:t> </a:t>
            </a:r>
            <a:r>
              <a:rPr lang="ko-KR" altLang="en-US"/>
              <a:t>등</a:t>
            </a:r>
            <a:r>
              <a:rPr lang="en-US" altLang="ko-KR"/>
              <a:t> </a:t>
            </a:r>
            <a:r>
              <a:rPr lang="ko-KR" altLang="en-US" err="1"/>
              <a:t>예상</a:t>
            </a:r>
            <a:r>
              <a:rPr lang="en-US"/>
              <a:t>)</a:t>
            </a:r>
            <a:r>
              <a:rPr lang="ko-KR" altLang="en-US" err="1"/>
              <a:t>시키는</a:t>
            </a:r>
            <a:r>
              <a:rPr lang="en-US" altLang="ko-KR"/>
              <a:t> </a:t>
            </a:r>
            <a:r>
              <a:rPr lang="ko-KR" altLang="en-US" err="1"/>
              <a:t>과정</a:t>
            </a:r>
            <a:r>
              <a:rPr lang="en-US" altLang="ko-KR"/>
              <a:t> </a:t>
            </a:r>
            <a:r>
              <a:rPr lang="ko-KR" altLang="en-US" err="1"/>
              <a:t>진행</a:t>
            </a:r>
            <a:r>
              <a:rPr lang="en-US" altLang="ko-KR"/>
              <a:t> </a:t>
            </a:r>
            <a:r>
              <a:rPr lang="ko-KR" altLang="en-US" err="1"/>
              <a:t>예정</a:t>
            </a:r>
            <a:r>
              <a:rPr lang="en-US"/>
              <a:t>.</a:t>
            </a:r>
          </a:p>
          <a:p>
            <a:r>
              <a:rPr lang="en-US"/>
              <a:t>     *</a:t>
            </a:r>
            <a:r>
              <a:rPr lang="en-US" altLang="ko-KR"/>
              <a:t> </a:t>
            </a:r>
            <a:r>
              <a:rPr lang="ko-KR" altLang="en-US" err="1"/>
              <a:t>코드</a:t>
            </a:r>
            <a:r>
              <a:rPr lang="en-US" altLang="ko-KR"/>
              <a:t> </a:t>
            </a:r>
            <a:r>
              <a:rPr lang="ko-KR" altLang="en-US" err="1"/>
              <a:t>기반의</a:t>
            </a:r>
            <a:r>
              <a:rPr lang="en-US" altLang="ko-KR"/>
              <a:t> </a:t>
            </a:r>
            <a:r>
              <a:rPr lang="ko-KR" altLang="en-US" err="1"/>
              <a:t>분석</a:t>
            </a:r>
            <a:r>
              <a:rPr lang="en-US" altLang="ko-KR"/>
              <a:t> </a:t>
            </a:r>
            <a:r>
              <a:rPr lang="ko-KR" altLang="en-US" err="1"/>
              <a:t>결과를</a:t>
            </a:r>
            <a:r>
              <a:rPr lang="en-US" altLang="ko-KR"/>
              <a:t> </a:t>
            </a:r>
            <a:r>
              <a:rPr lang="ko-KR" altLang="en-US" err="1"/>
              <a:t>바탕으로</a:t>
            </a:r>
            <a:r>
              <a:rPr lang="en-US" altLang="ko-KR"/>
              <a:t> </a:t>
            </a:r>
            <a:r>
              <a:rPr lang="ko-KR" altLang="en-US" err="1"/>
              <a:t>팀만의</a:t>
            </a:r>
            <a:r>
              <a:rPr lang="en-US" altLang="ko-KR"/>
              <a:t> </a:t>
            </a:r>
            <a:r>
              <a:rPr lang="ko-KR" altLang="en-US" err="1"/>
              <a:t>독창적인</a:t>
            </a:r>
            <a:r>
              <a:rPr lang="en-US"/>
              <a:t> '</a:t>
            </a:r>
            <a:r>
              <a:rPr lang="ko-KR" altLang="en-US" err="1"/>
              <a:t>서비스</a:t>
            </a:r>
            <a:r>
              <a:rPr lang="en-US" altLang="ko-KR"/>
              <a:t> </a:t>
            </a:r>
            <a:r>
              <a:rPr lang="ko-KR" altLang="en-US" err="1"/>
              <a:t>개선</a:t>
            </a:r>
            <a:r>
              <a:rPr lang="en-US" altLang="ko-KR"/>
              <a:t> </a:t>
            </a:r>
            <a:r>
              <a:rPr lang="ko-KR" altLang="en-US" err="1"/>
              <a:t>방향성</a:t>
            </a:r>
            <a:r>
              <a:rPr lang="en-US" altLang="ko-KR"/>
              <a:t> </a:t>
            </a:r>
            <a:r>
              <a:rPr lang="ko-KR" altLang="en-US"/>
              <a:t>및</a:t>
            </a:r>
            <a:r>
              <a:rPr lang="en-US" altLang="ko-KR"/>
              <a:t> </a:t>
            </a:r>
            <a:r>
              <a:rPr lang="ko-KR" altLang="en-US" err="1"/>
              <a:t>비즈니스</a:t>
            </a:r>
            <a:r>
              <a:rPr lang="en-US" altLang="ko-KR"/>
              <a:t> </a:t>
            </a:r>
            <a:r>
              <a:rPr lang="ko-KR" altLang="en-US" err="1"/>
              <a:t>전략</a:t>
            </a:r>
            <a:r>
              <a:rPr lang="en-US" err="1"/>
              <a:t>'</a:t>
            </a:r>
            <a:r>
              <a:rPr lang="ko-KR" altLang="en-US" err="1"/>
              <a:t>을</a:t>
            </a:r>
            <a:r>
              <a:rPr lang="en-US" altLang="ko-KR"/>
              <a:t> </a:t>
            </a:r>
            <a:r>
              <a:rPr lang="ko-KR" altLang="en-US" err="1"/>
              <a:t>확정하고</a:t>
            </a:r>
            <a:r>
              <a:rPr lang="en-US" altLang="ko-KR"/>
              <a:t> </a:t>
            </a:r>
            <a:r>
              <a:rPr lang="ko-KR" altLang="en-US" err="1"/>
              <a:t>최종</a:t>
            </a:r>
            <a:r>
              <a:rPr lang="en-US" altLang="ko-KR"/>
              <a:t> </a:t>
            </a:r>
            <a:r>
              <a:rPr lang="ko-KR" altLang="en-US" err="1"/>
              <a:t>발표용</a:t>
            </a:r>
            <a:r>
              <a:rPr lang="en-US"/>
              <a:t> PPT</a:t>
            </a:r>
            <a:r>
              <a:rPr lang="en-US" altLang="ko-KR"/>
              <a:t> </a:t>
            </a:r>
            <a:r>
              <a:rPr lang="ko-KR" altLang="en-US" err="1"/>
              <a:t>완성</a:t>
            </a:r>
            <a:r>
              <a:rPr lang="en-US"/>
              <a:t>.</a:t>
            </a:r>
          </a:p>
          <a:p>
            <a:r>
              <a:rPr lang="en-US"/>
              <a:t>   *</a:t>
            </a:r>
            <a:r>
              <a:rPr lang="en-US" altLang="ko-KR"/>
              <a:t> </a:t>
            </a:r>
            <a:r>
              <a:rPr lang="ko-KR" altLang="en-US" b="1" err="1"/>
              <a:t>자기소개</a:t>
            </a:r>
            <a:r>
              <a:rPr lang="en-US" altLang="ko-KR" b="1"/>
              <a:t> </a:t>
            </a:r>
            <a:r>
              <a:rPr lang="ko-KR" altLang="en-US" b="1"/>
              <a:t>및</a:t>
            </a:r>
            <a:r>
              <a:rPr lang="en-US" altLang="ko-KR" b="1"/>
              <a:t> </a:t>
            </a:r>
            <a:r>
              <a:rPr lang="ko-KR" altLang="en-US" b="1" err="1"/>
              <a:t>네트워킹</a:t>
            </a:r>
            <a:r>
              <a:rPr lang="en-US" b="1"/>
              <a:t>:</a:t>
            </a:r>
            <a:endParaRPr lang="en-US"/>
          </a:p>
          <a:p>
            <a:r>
              <a:rPr lang="en-US"/>
              <a:t>     *</a:t>
            </a:r>
            <a:r>
              <a:rPr lang="en-US" altLang="ko-KR"/>
              <a:t> </a:t>
            </a:r>
            <a:r>
              <a:rPr lang="ko-KR" altLang="en-US" err="1"/>
              <a:t>전공</a:t>
            </a:r>
            <a:r>
              <a:rPr lang="en-US"/>
              <a:t>:</a:t>
            </a:r>
            <a:r>
              <a:rPr lang="en-US" altLang="ko-KR"/>
              <a:t> </a:t>
            </a:r>
            <a:r>
              <a:rPr lang="ko-KR" altLang="en-US" err="1"/>
              <a:t>컴퓨터공학</a:t>
            </a:r>
            <a:r>
              <a:rPr lang="en-US"/>
              <a:t>,</a:t>
            </a:r>
            <a:r>
              <a:rPr lang="en-US" altLang="ko-KR"/>
              <a:t> </a:t>
            </a:r>
            <a:r>
              <a:rPr lang="ko-KR" altLang="en-US" err="1"/>
              <a:t>산업</a:t>
            </a:r>
            <a:r>
              <a:rPr lang="en-US"/>
              <a:t>/</a:t>
            </a:r>
            <a:r>
              <a:rPr lang="ko-KR" altLang="en-US" err="1"/>
              <a:t>경영공학</a:t>
            </a:r>
            <a:r>
              <a:rPr lang="en-US"/>
              <a:t>,</a:t>
            </a:r>
            <a:r>
              <a:rPr lang="en-US" altLang="ko-KR"/>
              <a:t> </a:t>
            </a:r>
            <a:r>
              <a:rPr lang="ko-KR" altLang="en-US" err="1"/>
              <a:t>데이터과학</a:t>
            </a:r>
            <a:r>
              <a:rPr lang="en-US"/>
              <a:t>,</a:t>
            </a:r>
            <a:r>
              <a:rPr lang="en-US" altLang="ko-KR"/>
              <a:t> </a:t>
            </a:r>
            <a:r>
              <a:rPr lang="ko-KR" altLang="en-US" err="1"/>
              <a:t>전자공학</a:t>
            </a:r>
            <a:r>
              <a:rPr lang="en-US"/>
              <a:t>,</a:t>
            </a:r>
            <a:r>
              <a:rPr lang="en-US" altLang="ko-KR"/>
              <a:t> </a:t>
            </a:r>
            <a:r>
              <a:rPr lang="ko-KR" altLang="en-US" err="1"/>
              <a:t>수학</a:t>
            </a:r>
            <a:r>
              <a:rPr lang="en-US"/>
              <a:t>,</a:t>
            </a:r>
            <a:r>
              <a:rPr lang="en-US" altLang="ko-KR"/>
              <a:t> </a:t>
            </a:r>
            <a:r>
              <a:rPr lang="ko-KR" altLang="en-US" err="1"/>
              <a:t>생명공학</a:t>
            </a:r>
            <a:r>
              <a:rPr lang="en-US"/>
              <a:t>,</a:t>
            </a:r>
            <a:r>
              <a:rPr lang="en-US" altLang="ko-KR"/>
              <a:t> </a:t>
            </a:r>
            <a:r>
              <a:rPr lang="ko-KR" altLang="en-US" err="1"/>
              <a:t>기계공학</a:t>
            </a:r>
            <a:r>
              <a:rPr lang="en-US" altLang="ko-KR"/>
              <a:t> </a:t>
            </a:r>
            <a:r>
              <a:rPr lang="ko-KR" altLang="en-US"/>
              <a:t>등</a:t>
            </a:r>
            <a:r>
              <a:rPr lang="en-US" altLang="ko-KR"/>
              <a:t> </a:t>
            </a:r>
            <a:r>
              <a:rPr lang="ko-KR" altLang="en-US" err="1"/>
              <a:t>다양함</a:t>
            </a:r>
            <a:r>
              <a:rPr lang="en-US"/>
              <a:t>.</a:t>
            </a:r>
          </a:p>
          <a:p>
            <a:r>
              <a:rPr lang="en-US"/>
              <a:t>     *</a:t>
            </a:r>
            <a:r>
              <a:rPr lang="en-US" altLang="ko-KR"/>
              <a:t> </a:t>
            </a:r>
            <a:r>
              <a:rPr lang="ko-KR" altLang="en-US" err="1"/>
              <a:t>주력</a:t>
            </a:r>
            <a:r>
              <a:rPr lang="en-US" altLang="ko-KR"/>
              <a:t> </a:t>
            </a:r>
            <a:r>
              <a:rPr lang="ko-KR" altLang="en-US" err="1"/>
              <a:t>언어</a:t>
            </a:r>
            <a:r>
              <a:rPr lang="en-US" altLang="ko-KR"/>
              <a:t> </a:t>
            </a:r>
            <a:r>
              <a:rPr lang="ko-KR" altLang="en-US"/>
              <a:t>및</a:t>
            </a:r>
            <a:r>
              <a:rPr lang="en-US" altLang="ko-KR"/>
              <a:t> </a:t>
            </a:r>
            <a:r>
              <a:rPr lang="ko-KR" altLang="en-US" err="1"/>
              <a:t>경험</a:t>
            </a:r>
            <a:r>
              <a:rPr lang="en-US"/>
              <a:t>: Java/C#/SQL(</a:t>
            </a:r>
            <a:r>
              <a:rPr lang="ko-KR" altLang="en-US" err="1"/>
              <a:t>백엔드</a:t>
            </a:r>
            <a:r>
              <a:rPr lang="en-US"/>
              <a:t>/ERP</a:t>
            </a:r>
            <a:r>
              <a:rPr lang="en-US" altLang="ko-KR"/>
              <a:t> </a:t>
            </a:r>
            <a:r>
              <a:rPr lang="ko-KR" altLang="en-US" err="1"/>
              <a:t>경험자</a:t>
            </a:r>
            <a:r>
              <a:rPr lang="en-US"/>
              <a:t>), Python(</a:t>
            </a:r>
            <a:r>
              <a:rPr lang="ko-KR" altLang="en-US" err="1"/>
              <a:t>머신러닝</a:t>
            </a:r>
            <a:r>
              <a:rPr lang="en-US"/>
              <a:t>/</a:t>
            </a:r>
            <a:r>
              <a:rPr lang="ko-KR" altLang="en-US" err="1"/>
              <a:t>비전</a:t>
            </a:r>
            <a:r>
              <a:rPr lang="en-US"/>
              <a:t>/</a:t>
            </a:r>
            <a:r>
              <a:rPr lang="ko-KR" altLang="en-US" err="1"/>
              <a:t>음성</a:t>
            </a:r>
            <a:r>
              <a:rPr lang="en-US" altLang="ko-KR"/>
              <a:t> </a:t>
            </a:r>
            <a:r>
              <a:rPr lang="ko-KR" altLang="en-US" err="1"/>
              <a:t>인공지능</a:t>
            </a:r>
            <a:r>
              <a:rPr lang="en-US" altLang="ko-KR"/>
              <a:t> </a:t>
            </a:r>
            <a:r>
              <a:rPr lang="ko-KR" altLang="en-US" err="1"/>
              <a:t>연구</a:t>
            </a:r>
            <a:r>
              <a:rPr lang="en-US" altLang="ko-KR"/>
              <a:t> </a:t>
            </a:r>
            <a:r>
              <a:rPr lang="ko-KR" altLang="en-US" err="1"/>
              <a:t>경험자</a:t>
            </a:r>
            <a:r>
              <a:rPr lang="en-US" altLang="ko-KR"/>
              <a:t> </a:t>
            </a:r>
            <a:r>
              <a:rPr lang="ko-KR" altLang="en-US"/>
              <a:t>등</a:t>
            </a:r>
            <a:r>
              <a:rPr lang="en-US"/>
              <a:t>)</a:t>
            </a:r>
          </a:p>
          <a:p>
            <a:r>
              <a:rPr lang="en-US"/>
              <a:t>     *</a:t>
            </a:r>
            <a:r>
              <a:rPr lang="en-US" altLang="ko-KR"/>
              <a:t> </a:t>
            </a:r>
            <a:r>
              <a:rPr lang="ko-KR" altLang="en-US" err="1"/>
              <a:t>비전공자</a:t>
            </a:r>
            <a:r>
              <a:rPr lang="en-US" altLang="ko-KR"/>
              <a:t> </a:t>
            </a:r>
            <a:r>
              <a:rPr lang="ko-KR" altLang="en-US"/>
              <a:t>및</a:t>
            </a:r>
            <a:r>
              <a:rPr lang="en-US"/>
              <a:t> AI</a:t>
            </a:r>
            <a:r>
              <a:rPr lang="en-US" altLang="ko-KR"/>
              <a:t> </a:t>
            </a:r>
            <a:r>
              <a:rPr lang="ko-KR" altLang="en-US" err="1"/>
              <a:t>초심자도</a:t>
            </a:r>
            <a:r>
              <a:rPr lang="en-US" altLang="ko-KR"/>
              <a:t> </a:t>
            </a:r>
            <a:r>
              <a:rPr lang="ko-KR" altLang="en-US" err="1"/>
              <a:t>다수</a:t>
            </a:r>
            <a:r>
              <a:rPr lang="en-US" altLang="ko-KR"/>
              <a:t> </a:t>
            </a:r>
            <a:r>
              <a:rPr lang="ko-KR" altLang="en-US" err="1"/>
              <a:t>포함되어</a:t>
            </a:r>
            <a:r>
              <a:rPr lang="en-US" altLang="ko-KR"/>
              <a:t> </a:t>
            </a:r>
            <a:r>
              <a:rPr lang="ko-KR" altLang="en-US" err="1"/>
              <a:t>있어</a:t>
            </a:r>
            <a:r>
              <a:rPr lang="en-US"/>
              <a:t>,</a:t>
            </a:r>
            <a:r>
              <a:rPr lang="en-US" altLang="ko-KR"/>
              <a:t> </a:t>
            </a:r>
            <a:r>
              <a:rPr lang="ko-KR" altLang="en-US" err="1"/>
              <a:t>파이썬</a:t>
            </a:r>
            <a:r>
              <a:rPr lang="en-US" altLang="ko-KR"/>
              <a:t> </a:t>
            </a:r>
            <a:r>
              <a:rPr lang="ko-KR" altLang="en-US"/>
              <a:t>및</a:t>
            </a:r>
            <a:r>
              <a:rPr lang="en-US" altLang="ko-KR"/>
              <a:t> </a:t>
            </a:r>
            <a:r>
              <a:rPr lang="ko-KR" altLang="en-US" err="1"/>
              <a:t>딥러닝</a:t>
            </a:r>
            <a:r>
              <a:rPr lang="en-US" altLang="ko-KR"/>
              <a:t> </a:t>
            </a:r>
            <a:r>
              <a:rPr lang="ko-KR" altLang="en-US" err="1"/>
              <a:t>이론에</a:t>
            </a:r>
            <a:r>
              <a:rPr lang="en-US" altLang="ko-KR"/>
              <a:t> </a:t>
            </a:r>
            <a:r>
              <a:rPr lang="ko-KR" altLang="en-US" err="1"/>
              <a:t>대해</a:t>
            </a:r>
            <a:r>
              <a:rPr lang="en-US" altLang="ko-KR"/>
              <a:t> </a:t>
            </a:r>
            <a:r>
              <a:rPr lang="ko-KR" altLang="en-US" err="1"/>
              <a:t>서로</a:t>
            </a:r>
            <a:r>
              <a:rPr lang="en-US" altLang="ko-KR"/>
              <a:t> </a:t>
            </a:r>
            <a:r>
              <a:rPr lang="ko-KR" altLang="en-US" err="1"/>
              <a:t>적극적으로</a:t>
            </a:r>
            <a:r>
              <a:rPr lang="en-US" altLang="ko-KR"/>
              <a:t> </a:t>
            </a:r>
            <a:r>
              <a:rPr lang="ko-KR" altLang="en-US" err="1"/>
              <a:t>돕고</a:t>
            </a:r>
            <a:r>
              <a:rPr lang="en-US" altLang="ko-KR"/>
              <a:t> </a:t>
            </a:r>
            <a:r>
              <a:rPr lang="ko-KR" altLang="en-US" err="1"/>
              <a:t>리뷰어</a:t>
            </a:r>
            <a:r>
              <a:rPr lang="en-US" altLang="ko-KR"/>
              <a:t> </a:t>
            </a:r>
            <a:r>
              <a:rPr lang="ko-KR" altLang="en-US" err="1"/>
              <a:t>역할을</a:t>
            </a:r>
            <a:r>
              <a:rPr lang="en-US" altLang="ko-KR"/>
              <a:t> </a:t>
            </a:r>
            <a:r>
              <a:rPr lang="ko-KR" altLang="en-US" err="1"/>
              <a:t>충실히</a:t>
            </a:r>
            <a:r>
              <a:rPr lang="en-US" altLang="ko-KR"/>
              <a:t> </a:t>
            </a:r>
            <a:r>
              <a:rPr lang="ko-KR" altLang="en-US" err="1"/>
              <a:t>하기로</a:t>
            </a:r>
            <a:r>
              <a:rPr lang="en-US" altLang="ko-KR"/>
              <a:t> </a:t>
            </a:r>
            <a:r>
              <a:rPr lang="ko-KR" altLang="en-US" err="1"/>
              <a:t>다짐함</a:t>
            </a:r>
            <a:r>
              <a:rPr lang="en-US"/>
              <a:t>.</a:t>
            </a:r>
          </a:p>
          <a:p>
            <a:br>
              <a:rPr lang="en-US"/>
            </a:br>
            <a:endParaRPr lang="en-US"/>
          </a:p>
          <a:p>
            <a:r>
              <a:rPr lang="en-US"/>
              <a:t>  ---</a:t>
            </a:r>
          </a:p>
          <a:p>
            <a:r>
              <a:rPr lang="en-US"/>
              <a:t>  </a:t>
            </a:r>
            <a:r>
              <a:rPr lang="en-US" b="1"/>
              <a:t>[Action Item]</a:t>
            </a:r>
            <a:endParaRPr lang="en-US"/>
          </a:p>
          <a:p>
            <a:r>
              <a:rPr lang="en-US"/>
              <a:t>   * (PPT</a:t>
            </a:r>
            <a:r>
              <a:rPr lang="en-US" altLang="ko-KR"/>
              <a:t> </a:t>
            </a:r>
            <a:r>
              <a:rPr lang="ko-KR" altLang="en-US" err="1"/>
              <a:t>파트</a:t>
            </a:r>
            <a:r>
              <a:rPr lang="en-US"/>
              <a:t>)</a:t>
            </a:r>
            <a:r>
              <a:rPr lang="en-US" altLang="ko-KR"/>
              <a:t> </a:t>
            </a:r>
            <a:r>
              <a:rPr lang="ko-KR" altLang="en-US" err="1"/>
              <a:t>오늘</a:t>
            </a:r>
            <a:r>
              <a:rPr lang="en-US" altLang="ko-KR"/>
              <a:t> </a:t>
            </a:r>
            <a:r>
              <a:rPr lang="ko-KR" altLang="en-US" err="1"/>
              <a:t>논의된</a:t>
            </a:r>
            <a:r>
              <a:rPr lang="en-US"/>
              <a:t> '35</a:t>
            </a:r>
            <a:r>
              <a:rPr lang="ko-KR" altLang="en-US"/>
              <a:t>세</a:t>
            </a:r>
            <a:r>
              <a:rPr lang="en-US" altLang="ko-KR"/>
              <a:t> </a:t>
            </a:r>
            <a:r>
              <a:rPr lang="ko-KR" altLang="en-US" err="1"/>
              <a:t>기준</a:t>
            </a:r>
            <a:r>
              <a:rPr lang="en-US" altLang="ko-KR"/>
              <a:t> </a:t>
            </a:r>
            <a:r>
              <a:rPr lang="ko-KR" altLang="en-US" err="1"/>
              <a:t>타겟층</a:t>
            </a:r>
            <a:r>
              <a:rPr lang="en-US" altLang="ko-KR"/>
              <a:t> </a:t>
            </a:r>
            <a:r>
              <a:rPr lang="ko-KR" altLang="en-US" err="1"/>
              <a:t>분리</a:t>
            </a:r>
            <a:r>
              <a:rPr lang="en-US"/>
              <a:t>'</a:t>
            </a:r>
            <a:r>
              <a:rPr lang="en-US" altLang="ko-KR"/>
              <a:t> </a:t>
            </a:r>
            <a:r>
              <a:rPr lang="ko-KR" altLang="en-US"/>
              <a:t>및</a:t>
            </a:r>
            <a:r>
              <a:rPr lang="en-US"/>
              <a:t> '</a:t>
            </a:r>
            <a:r>
              <a:rPr lang="ko-KR" altLang="en-US" err="1"/>
              <a:t>온라인</a:t>
            </a:r>
            <a:r>
              <a:rPr lang="en-US" altLang="ko-KR"/>
              <a:t> </a:t>
            </a:r>
            <a:r>
              <a:rPr lang="ko-KR" altLang="en-US" err="1"/>
              <a:t>보딩의</a:t>
            </a:r>
            <a:r>
              <a:rPr lang="en-US" altLang="ko-KR"/>
              <a:t> </a:t>
            </a:r>
            <a:r>
              <a:rPr lang="ko-KR" altLang="en-US" err="1"/>
              <a:t>중요성</a:t>
            </a:r>
            <a:r>
              <a:rPr lang="en-US" err="1"/>
              <a:t>'</a:t>
            </a:r>
            <a:r>
              <a:rPr lang="ko-KR" altLang="en-US" err="1"/>
              <a:t>을</a:t>
            </a:r>
            <a:r>
              <a:rPr lang="en-US" altLang="ko-KR"/>
              <a:t> </a:t>
            </a:r>
            <a:r>
              <a:rPr lang="ko-KR" altLang="en-US" err="1"/>
              <a:t>반영한</a:t>
            </a:r>
            <a:r>
              <a:rPr lang="en-US" altLang="ko-KR"/>
              <a:t> </a:t>
            </a:r>
            <a:r>
              <a:rPr lang="ko-KR" altLang="en-US" err="1"/>
              <a:t>서비스</a:t>
            </a:r>
            <a:r>
              <a:rPr lang="en-US" altLang="ko-KR"/>
              <a:t> </a:t>
            </a:r>
            <a:r>
              <a:rPr lang="ko-KR" altLang="en-US" err="1"/>
              <a:t>개선</a:t>
            </a:r>
            <a:r>
              <a:rPr lang="en-US" altLang="ko-KR"/>
              <a:t> </a:t>
            </a:r>
            <a:r>
              <a:rPr lang="ko-KR" altLang="en-US" err="1"/>
              <a:t>기획안</a:t>
            </a:r>
            <a:r>
              <a:rPr lang="en-US" altLang="ko-KR"/>
              <a:t> </a:t>
            </a:r>
            <a:r>
              <a:rPr lang="ko-KR" altLang="en-US" err="1"/>
              <a:t>초안</a:t>
            </a:r>
            <a:r>
              <a:rPr lang="en-US" altLang="ko-KR"/>
              <a:t> </a:t>
            </a:r>
            <a:r>
              <a:rPr lang="ko-KR" altLang="en-US" err="1"/>
              <a:t>작성</a:t>
            </a:r>
            <a:r>
              <a:rPr lang="en-US"/>
              <a:t>.</a:t>
            </a:r>
          </a:p>
          <a:p>
            <a:r>
              <a:rPr lang="en-US"/>
              <a:t>   * (</a:t>
            </a:r>
            <a:r>
              <a:rPr lang="ko-KR" altLang="en-US" err="1"/>
              <a:t>전체</a:t>
            </a:r>
            <a:r>
              <a:rPr lang="en-US"/>
              <a:t>)</a:t>
            </a:r>
            <a:r>
              <a:rPr lang="en-US" altLang="ko-KR"/>
              <a:t> </a:t>
            </a:r>
            <a:r>
              <a:rPr lang="ko-KR" altLang="en-US" err="1"/>
              <a:t>명일</a:t>
            </a:r>
            <a:r>
              <a:rPr lang="en-US" altLang="ko-KR"/>
              <a:t> </a:t>
            </a:r>
            <a:r>
              <a:rPr lang="ko-KR" altLang="en-US" err="1"/>
              <a:t>오전</a:t>
            </a:r>
            <a:r>
              <a:rPr lang="en-US" altLang="ko-KR"/>
              <a:t> </a:t>
            </a:r>
            <a:r>
              <a:rPr lang="ko-KR" altLang="en-US" err="1"/>
              <a:t>딥러닝</a:t>
            </a:r>
            <a:r>
              <a:rPr lang="en-US" altLang="ko-KR"/>
              <a:t> </a:t>
            </a:r>
            <a:r>
              <a:rPr lang="ko-KR" altLang="en-US" err="1"/>
              <a:t>추가</a:t>
            </a:r>
            <a:r>
              <a:rPr lang="en-US" altLang="ko-KR"/>
              <a:t> </a:t>
            </a:r>
            <a:r>
              <a:rPr lang="ko-KR" altLang="en-US" err="1"/>
              <a:t>학습</a:t>
            </a:r>
            <a:r>
              <a:rPr lang="en-US" altLang="ko-KR"/>
              <a:t> </a:t>
            </a:r>
            <a:r>
              <a:rPr lang="ko-KR" altLang="en-US" err="1"/>
              <a:t>모델링</a:t>
            </a:r>
            <a:r>
              <a:rPr lang="en-US" altLang="ko-KR"/>
              <a:t> </a:t>
            </a:r>
            <a:r>
              <a:rPr lang="ko-KR" altLang="en-US" err="1"/>
              <a:t>세션</a:t>
            </a:r>
            <a:r>
              <a:rPr lang="en-US" altLang="ko-KR"/>
              <a:t> </a:t>
            </a:r>
            <a:r>
              <a:rPr lang="ko-KR" altLang="en-US" err="1"/>
              <a:t>대비</a:t>
            </a:r>
            <a:r>
              <a:rPr lang="en-US" altLang="ko-KR"/>
              <a:t> </a:t>
            </a:r>
            <a:r>
              <a:rPr lang="ko-KR" altLang="en-US"/>
              <a:t>및</a:t>
            </a:r>
            <a:r>
              <a:rPr lang="en-US" altLang="ko-KR"/>
              <a:t> </a:t>
            </a:r>
            <a:r>
              <a:rPr lang="ko-KR" altLang="en-US" err="1"/>
              <a:t>리뷰</a:t>
            </a:r>
            <a:r>
              <a:rPr lang="en-US" altLang="ko-KR"/>
              <a:t> </a:t>
            </a:r>
            <a:r>
              <a:rPr lang="ko-KR" altLang="en-US" err="1"/>
              <a:t>준비</a:t>
            </a:r>
            <a:r>
              <a:rPr lang="en-US"/>
              <a:t>.</a:t>
            </a:r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640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>
          <a:extLst>
            <a:ext uri="{FF2B5EF4-FFF2-40B4-BE49-F238E27FC236}">
              <a16:creationId xmlns:a16="http://schemas.microsoft.com/office/drawing/2014/main" id="{90195453-D061-046F-70E0-3B36B6F8E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57;p11">
            <a:extLst>
              <a:ext uri="{FF2B5EF4-FFF2-40B4-BE49-F238E27FC236}">
                <a16:creationId xmlns:a16="http://schemas.microsoft.com/office/drawing/2014/main" id="{E1B92B9C-B0A9-AA41-F4C6-E0DC71C7FE8D}"/>
              </a:ext>
            </a:extLst>
          </p:cNvPr>
          <p:cNvSpPr txBox="1">
            <a:spLocks/>
          </p:cNvSpPr>
          <p:nvPr/>
        </p:nvSpPr>
        <p:spPr>
          <a:xfrm>
            <a:off x="177762" y="227159"/>
            <a:ext cx="6808597" cy="628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23" tIns="56246" rIns="112523" bIns="5624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344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0000"/>
              </a:lnSpc>
            </a:pPr>
            <a:r>
              <a:rPr lang="ko-KR" altLang="en-US" sz="3200" spc="-100">
                <a:ln w="3175">
                  <a:solidFill>
                    <a:srgbClr val="000000">
                      <a:alpha val="30000"/>
                    </a:srgbClr>
                  </a:solidFill>
                </a:ln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/>
                <a:cs typeface="Arial"/>
              </a:rPr>
              <a:t>회의록 2</a:t>
            </a:r>
            <a:endParaRPr lang="ko-KR" altLang="en-US" sz="3200" spc="-100">
              <a:ln w="3175">
                <a:solidFill>
                  <a:schemeClr val="tx1">
                    <a:alpha val="30000"/>
                  </a:schemeClr>
                </a:solidFill>
              </a:ln>
              <a:solidFill>
                <a:srgbClr val="00000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6289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>
          <a:extLst>
            <a:ext uri="{FF2B5EF4-FFF2-40B4-BE49-F238E27FC236}">
              <a16:creationId xmlns:a16="http://schemas.microsoft.com/office/drawing/2014/main" id="{E4651965-4BB3-AC7B-4DA0-90F7606E6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57;p11">
            <a:extLst>
              <a:ext uri="{FF2B5EF4-FFF2-40B4-BE49-F238E27FC236}">
                <a16:creationId xmlns:a16="http://schemas.microsoft.com/office/drawing/2014/main" id="{8DA0F37F-1177-FE64-DC97-093FCC8A7782}"/>
              </a:ext>
            </a:extLst>
          </p:cNvPr>
          <p:cNvSpPr txBox="1">
            <a:spLocks/>
          </p:cNvSpPr>
          <p:nvPr/>
        </p:nvSpPr>
        <p:spPr>
          <a:xfrm>
            <a:off x="177762" y="227159"/>
            <a:ext cx="6808597" cy="628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23" tIns="56246" rIns="112523" bIns="5624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344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0000"/>
              </a:lnSpc>
            </a:pPr>
            <a:r>
              <a:rPr lang="ko-KR" altLang="en-US" sz="3200" spc="-100">
                <a:ln w="3175">
                  <a:solidFill>
                    <a:srgbClr val="000000">
                      <a:alpha val="30000"/>
                    </a:srgbClr>
                  </a:solidFill>
                </a:ln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/>
                <a:cs typeface="Arial"/>
              </a:rPr>
              <a:t>회의록 3</a:t>
            </a:r>
            <a:endParaRPr lang="ko-KR" altLang="en-US" sz="3200" spc="-100">
              <a:ln w="3175">
                <a:solidFill>
                  <a:schemeClr val="tx1">
                    <a:alpha val="30000"/>
                  </a:schemeClr>
                </a:solidFill>
              </a:ln>
              <a:solidFill>
                <a:srgbClr val="00000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47426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>
          <a:extLst>
            <a:ext uri="{FF2B5EF4-FFF2-40B4-BE49-F238E27FC236}">
              <a16:creationId xmlns:a16="http://schemas.microsoft.com/office/drawing/2014/main" id="{759707E6-E6D9-8AF8-033A-314179F79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57;p11">
            <a:extLst>
              <a:ext uri="{FF2B5EF4-FFF2-40B4-BE49-F238E27FC236}">
                <a16:creationId xmlns:a16="http://schemas.microsoft.com/office/drawing/2014/main" id="{C7FD4AAA-9BC8-A063-BFC0-4D451110B53C}"/>
              </a:ext>
            </a:extLst>
          </p:cNvPr>
          <p:cNvSpPr txBox="1">
            <a:spLocks/>
          </p:cNvSpPr>
          <p:nvPr/>
        </p:nvSpPr>
        <p:spPr>
          <a:xfrm>
            <a:off x="177762" y="227159"/>
            <a:ext cx="6808597" cy="628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23" tIns="56246" rIns="112523" bIns="5624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344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21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100000"/>
              </a:lnSpc>
            </a:pPr>
            <a:r>
              <a:rPr lang="ko-KR" altLang="en-US" sz="3200" spc="-100">
                <a:ln w="3175">
                  <a:solidFill>
                    <a:srgbClr val="000000">
                      <a:alpha val="30000"/>
                    </a:srgbClr>
                  </a:solidFill>
                </a:ln>
                <a:solidFill>
                  <a:srgbClr val="000000"/>
                </a:solidFill>
                <a:latin typeface="나눔스퀘어 ExtraBold" panose="020B0600000101010101" pitchFamily="50" charset="-127"/>
                <a:ea typeface="나눔스퀘어 ExtraBold"/>
                <a:cs typeface="Arial"/>
              </a:rPr>
              <a:t>회의록 4</a:t>
            </a:r>
            <a:endParaRPr lang="ko-KR" altLang="en-US" sz="3200" spc="-100">
              <a:ln w="3175">
                <a:solidFill>
                  <a:schemeClr val="tx1">
                    <a:alpha val="30000"/>
                  </a:schemeClr>
                </a:solidFill>
              </a:ln>
              <a:solidFill>
                <a:srgbClr val="000000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14162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파랑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FD383D7F1BF8D4D8922371A7F703CF8" ma:contentTypeVersion="3" ma:contentTypeDescription="새 문서를 만듭니다." ma:contentTypeScope="" ma:versionID="708923fc3fc156c463224abfc6c57565">
  <xsd:schema xmlns:xsd="http://www.w3.org/2001/XMLSchema" xmlns:xs="http://www.w3.org/2001/XMLSchema" xmlns:p="http://schemas.microsoft.com/office/2006/metadata/properties" xmlns:ns2="ae7cab53-d659-4f91-87a2-26a41d5645d9" targetNamespace="http://schemas.microsoft.com/office/2006/metadata/properties" ma:root="true" ma:fieldsID="5c025accf4c695aef361ae030a3bbea0" ns2:_="">
    <xsd:import namespace="ae7cab53-d659-4f91-87a2-26a41d5645d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e7cab53-d659-4f91-87a2-26a41d5645d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D6006FC-B861-4112-AF53-4CCD5B22529C}">
  <ds:schemaRefs>
    <ds:schemaRef ds:uri="ae7cab53-d659-4f91-87a2-26a41d5645d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C474F5F0-E47C-4CD4-9BF1-D80ACD90DC05}">
  <ds:schemaRefs>
    <ds:schemaRef ds:uri="83fa82f3-e9ff-4381-8a02-09a021770668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B6E4AB4-6812-4825-A477-08F4E470421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6</Slides>
  <Notes>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테마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revision>1</cp:revision>
  <dcterms:modified xsi:type="dcterms:W3CDTF">2026-04-16T07:19:33Z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16c548c-0cd3-4220-987a-a58bfd9a89d4_Enabled">
    <vt:lpwstr>true</vt:lpwstr>
  </property>
  <property fmtid="{D5CDD505-2E9C-101B-9397-08002B2CF9AE}" pid="3" name="MSIP_Label_b16c548c-0cd3-4220-987a-a58bfd9a89d4_SetDate">
    <vt:lpwstr>2022-01-28T12:25:58Z</vt:lpwstr>
  </property>
  <property fmtid="{D5CDD505-2E9C-101B-9397-08002B2CF9AE}" pid="4" name="MSIP_Label_b16c548c-0cd3-4220-987a-a58bfd9a89d4_Method">
    <vt:lpwstr>Privileged</vt:lpwstr>
  </property>
  <property fmtid="{D5CDD505-2E9C-101B-9397-08002B2CF9AE}" pid="5" name="MSIP_Label_b16c548c-0cd3-4220-987a-a58bfd9a89d4_Name">
    <vt:lpwstr>b16c548c-0cd3-4220-987a-a58bfd9a89d4</vt:lpwstr>
  </property>
  <property fmtid="{D5CDD505-2E9C-101B-9397-08002B2CF9AE}" pid="6" name="MSIP_Label_b16c548c-0cd3-4220-987a-a58bfd9a89d4_SiteId">
    <vt:lpwstr>522a0f89-ae58-43b6-821b-2b06cecc7d8a</vt:lpwstr>
  </property>
  <property fmtid="{D5CDD505-2E9C-101B-9397-08002B2CF9AE}" pid="7" name="MSIP_Label_b16c548c-0cd3-4220-987a-a58bfd9a89d4_ActionId">
    <vt:lpwstr>0e831c6a-4daf-459e-a66c-38ad3bcc73cf</vt:lpwstr>
  </property>
  <property fmtid="{D5CDD505-2E9C-101B-9397-08002B2CF9AE}" pid="8" name="MSIP_Label_b16c548c-0cd3-4220-987a-a58bfd9a89d4_ContentBits">
    <vt:lpwstr>0</vt:lpwstr>
  </property>
  <property fmtid="{D5CDD505-2E9C-101B-9397-08002B2CF9AE}" pid="9" name="ContentTypeId">
    <vt:lpwstr>0x0101003FD383D7F1BF8D4D8922371A7F703CF8</vt:lpwstr>
  </property>
  <property fmtid="{D5CDD505-2E9C-101B-9397-08002B2CF9AE}" pid="10" name="MediaServiceImageTags">
    <vt:lpwstr/>
  </property>
  <property fmtid="{D5CDD505-2E9C-101B-9397-08002B2CF9AE}" pid="11" name="Order">
    <vt:r8>600</vt:r8>
  </property>
  <property fmtid="{D5CDD505-2E9C-101B-9397-08002B2CF9AE}" pid="12" name="xd_Signature">
    <vt:bool>false</vt:bool>
  </property>
  <property fmtid="{D5CDD505-2E9C-101B-9397-08002B2CF9AE}" pid="13" name="xd_ProgID">
    <vt:lpwstr/>
  </property>
  <property fmtid="{D5CDD505-2E9C-101B-9397-08002B2CF9AE}" pid="14" name="_SourceUrl">
    <vt:lpwstr/>
  </property>
  <property fmtid="{D5CDD505-2E9C-101B-9397-08002B2CF9AE}" pid="15" name="_SharedFileIndex">
    <vt:lpwstr/>
  </property>
  <property fmtid="{D5CDD505-2E9C-101B-9397-08002B2CF9AE}" pid="16" name="ComplianceAssetId">
    <vt:lpwstr/>
  </property>
  <property fmtid="{D5CDD505-2E9C-101B-9397-08002B2CF9AE}" pid="17" name="TemplateUrl">
    <vt:lpwstr/>
  </property>
  <property fmtid="{D5CDD505-2E9C-101B-9397-08002B2CF9AE}" pid="18" name="_ExtendedDescription">
    <vt:lpwstr/>
  </property>
  <property fmtid="{D5CDD505-2E9C-101B-9397-08002B2CF9AE}" pid="19" name="TriggerFlowInfo">
    <vt:lpwstr/>
  </property>
</Properties>
</file>