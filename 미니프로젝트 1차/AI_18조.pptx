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4"/>
  </p:sldMasterIdLst>
  <p:notesMasterIdLst>
    <p:notesMasterId r:id="rId16"/>
  </p:notesMasterIdLst>
  <p:handoutMasterIdLst>
    <p:handoutMasterId r:id="rId17"/>
  </p:handoutMasterIdLst>
  <p:sldIdLst>
    <p:sldId id="3516" r:id="rId5"/>
    <p:sldId id="3577" r:id="rId6"/>
    <p:sldId id="3566" r:id="rId7"/>
    <p:sldId id="3573" r:id="rId8"/>
    <p:sldId id="3582" r:id="rId9"/>
    <p:sldId id="3581" r:id="rId10"/>
    <p:sldId id="3578" r:id="rId11"/>
    <p:sldId id="3583" r:id="rId12"/>
    <p:sldId id="3584" r:id="rId13"/>
    <p:sldId id="3574" r:id="rId14"/>
    <p:sldId id="3544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DEA"/>
    <a:srgbClr val="1F6765"/>
    <a:srgbClr val="FF6600"/>
    <a:srgbClr val="D8ECEB"/>
    <a:srgbClr val="418587"/>
    <a:srgbClr val="C9FAFC"/>
    <a:srgbClr val="A5D2D3"/>
    <a:srgbClr val="71C1B3"/>
    <a:srgbClr val="B5DBD3"/>
    <a:srgbClr val="CAE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7D00B9-CBFA-C11D-021E-688CC99601A9}" v="1" dt="2026-04-16T06:55:00.478"/>
    <p1510:client id="{B5D030B8-66BD-0D06-5315-E74F83AB0151}" v="2" dt="2026-04-16T07:10:23.118"/>
  </p1510:revLst>
</p1510:revInfo>
</file>

<file path=ppt/tableStyles.xml><?xml version="1.0" encoding="utf-8"?>
<a:tblStyleLst xmlns:a="http://schemas.openxmlformats.org/drawingml/2006/main" def="{A4739C91-EA2B-441A-B1FC-6100ADDC1FEA}">
  <a:tblStyle styleId="{A4739C91-EA2B-441A-B1FC-6100ADDC1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7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노경천" userId="S::a091096@aivle.kt.co.kr::abafa1d9-942e-4278-9356-b89ef9992cb2" providerId="AD" clId="Web-{4A7D00B9-CBFA-C11D-021E-688CC99601A9}"/>
    <pc:docChg chg="modSld">
      <pc:chgData name="노경천" userId="S::a091096@aivle.kt.co.kr::abafa1d9-942e-4278-9356-b89ef9992cb2" providerId="AD" clId="Web-{4A7D00B9-CBFA-C11D-021E-688CC99601A9}" dt="2026-04-16T06:55:00.478" v="0" actId="1076"/>
      <pc:docMkLst>
        <pc:docMk/>
      </pc:docMkLst>
      <pc:sldChg chg="modSp">
        <pc:chgData name="노경천" userId="S::a091096@aivle.kt.co.kr::abafa1d9-942e-4278-9356-b89ef9992cb2" providerId="AD" clId="Web-{4A7D00B9-CBFA-C11D-021E-688CC99601A9}" dt="2026-04-16T06:55:00.478" v="0" actId="1076"/>
        <pc:sldMkLst>
          <pc:docMk/>
          <pc:sldMk cId="3315561838" sldId="3516"/>
        </pc:sldMkLst>
        <pc:picChg chg="mod">
          <ac:chgData name="노경천" userId="S::a091096@aivle.kt.co.kr::abafa1d9-942e-4278-9356-b89ef9992cb2" providerId="AD" clId="Web-{4A7D00B9-CBFA-C11D-021E-688CC99601A9}" dt="2026-04-16T06:55:00.478" v="0" actId="1076"/>
          <ac:picMkLst>
            <pc:docMk/>
            <pc:sldMk cId="3315561838" sldId="3516"/>
            <ac:picMk id="8" creationId="{F783B93C-511C-42EC-BD84-5B9B054FB28F}"/>
          </ac:picMkLst>
        </pc:picChg>
      </pc:sldChg>
    </pc:docChg>
  </pc:docChgLst>
  <pc:docChgLst>
    <pc:chgData name="노경천" userId="S::a091096@aivle.kt.co.kr::abafa1d9-942e-4278-9356-b89ef9992cb2" providerId="AD" clId="Web-{B5D030B8-66BD-0D06-5315-E74F83AB0151}"/>
    <pc:docChg chg="modSld">
      <pc:chgData name="노경천" userId="S::a091096@aivle.kt.co.kr::abafa1d9-942e-4278-9356-b89ef9992cb2" providerId="AD" clId="Web-{B5D030B8-66BD-0D06-5315-E74F83AB0151}" dt="2026-04-16T07:10:23.118" v="1" actId="1076"/>
      <pc:docMkLst>
        <pc:docMk/>
      </pc:docMkLst>
      <pc:sldChg chg="modSp">
        <pc:chgData name="노경천" userId="S::a091096@aivle.kt.co.kr::abafa1d9-942e-4278-9356-b89ef9992cb2" providerId="AD" clId="Web-{B5D030B8-66BD-0D06-5315-E74F83AB0151}" dt="2026-04-16T07:10:23.118" v="1" actId="1076"/>
        <pc:sldMkLst>
          <pc:docMk/>
          <pc:sldMk cId="4227297790" sldId="3584"/>
        </pc:sldMkLst>
        <pc:spChg chg="mod">
          <ac:chgData name="노경천" userId="S::a091096@aivle.kt.co.kr::abafa1d9-942e-4278-9356-b89ef9992cb2" providerId="AD" clId="Web-{B5D030B8-66BD-0D06-5315-E74F83AB0151}" dt="2026-04-16T07:10:23.118" v="1" actId="1076"/>
          <ac:spMkLst>
            <pc:docMk/>
            <pc:sldMk cId="4227297790" sldId="3584"/>
            <ac:spMk id="2" creationId="{8C04658B-C3B3-41D2-83C4-455237456A2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EE2-0F71-437D-9438-13CCE6E2D3A4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F53A9-D8CC-4D53-A6BF-2C0C2798E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901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10300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/>
              <a:t>목표 </a:t>
            </a:r>
            <a:r>
              <a:rPr lang="en-US" altLang="ko-KR"/>
              <a:t>1: </a:t>
            </a:r>
            <a:r>
              <a:rPr lang="ko-KR" altLang="en-US"/>
              <a:t>설문 데이터 분석을 통한 인사이트 도출 고객 설문 데이터를 분석하여 </a:t>
            </a:r>
            <a:r>
              <a:rPr lang="en-US" altLang="ko-KR"/>
              <a:t>• </a:t>
            </a:r>
            <a:r>
              <a:rPr lang="ko-KR" altLang="en-US"/>
              <a:t>고객 만족도에 영향을 미치는 핵심 요인 파악 </a:t>
            </a:r>
            <a:r>
              <a:rPr lang="en-US" altLang="ko-KR"/>
              <a:t>• </a:t>
            </a:r>
            <a:r>
              <a:rPr lang="ko-KR" altLang="en-US"/>
              <a:t>서비스 문제 발생 가능 영역 식별 </a:t>
            </a:r>
            <a:r>
              <a:rPr lang="en-US" altLang="ko-KR"/>
              <a:t>• </a:t>
            </a:r>
            <a:r>
              <a:rPr lang="ko-KR" altLang="en-US"/>
              <a:t>데이터 기반 문제 정의</a:t>
            </a: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/>
              <a:t>기내 서비스는 좋았지만 출발 지연이 잦았다 </a:t>
            </a:r>
            <a:r>
              <a:rPr lang="en-US" altLang="ko-KR"/>
              <a:t>• </a:t>
            </a:r>
            <a:r>
              <a:rPr lang="ko-KR" altLang="en-US"/>
              <a:t>체크인 과정이 예상보다 불편했다 </a:t>
            </a:r>
            <a:r>
              <a:rPr lang="en-US" altLang="ko-KR"/>
              <a:t>• </a:t>
            </a:r>
            <a:r>
              <a:rPr lang="ko-KR" altLang="en-US"/>
              <a:t>좌석 공간이 기대보다 좁았다</a:t>
            </a: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/>
              <a:t>“기내 서비스는 친절했지만 출발이 </a:t>
            </a:r>
            <a:r>
              <a:rPr lang="en-US" altLang="ko-KR"/>
              <a:t>40</a:t>
            </a:r>
            <a:r>
              <a:rPr lang="ko-KR" altLang="en-US"/>
              <a:t>분 지연되어 일정이 많이 밀렸습니다</a:t>
            </a:r>
            <a:r>
              <a:rPr lang="en-US" altLang="ko-KR"/>
              <a:t>.”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“</a:t>
            </a:r>
            <a:r>
              <a:rPr lang="ko-KR" altLang="en-US"/>
              <a:t>좌석은 편안했지만 온라인 체크인 과정이 조금 불편했습니다</a:t>
            </a:r>
            <a:r>
              <a:rPr lang="en-US" altLang="ko-KR"/>
              <a:t>.”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“</a:t>
            </a:r>
            <a:r>
              <a:rPr lang="ko-KR" altLang="en-US"/>
              <a:t>기내 엔터테인먼트는 좋았지만 다리 공간이 조금 좁게 느껴졌습니다</a:t>
            </a:r>
            <a:r>
              <a:rPr lang="en-US" altLang="ko-KR"/>
              <a:t>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 “</a:t>
            </a:r>
            <a:r>
              <a:rPr lang="ko-KR" altLang="en-US"/>
              <a:t>기내 음식은 만족스러웠지만 탑승 게이트 위치가 멀어서 이동이 힘들었습니다</a:t>
            </a:r>
            <a:r>
              <a:rPr lang="en-US" altLang="ko-KR"/>
              <a:t>.”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“</a:t>
            </a:r>
            <a:r>
              <a:rPr lang="ko-KR" altLang="en-US"/>
              <a:t>전체적으로 나쁘지는 않았지만 기대했던 것보다는 아쉬운 점이 있었습니다</a:t>
            </a:r>
            <a:r>
              <a:rPr lang="en-US" altLang="ko-KR"/>
              <a:t>.</a:t>
            </a: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7079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/>
              <a:t>목표 </a:t>
            </a:r>
            <a:r>
              <a:rPr lang="en-US" altLang="ko-KR"/>
              <a:t>2: </a:t>
            </a:r>
            <a:r>
              <a:rPr lang="ko-KR" altLang="en-US"/>
              <a:t>기존 딥러닝 모델 구현 및 문제점 확인 고객 만족도를 예측하는 딥러닝 모델을 구축하고 </a:t>
            </a:r>
            <a:r>
              <a:rPr lang="en-US" altLang="ko-KR"/>
              <a:t>• </a:t>
            </a:r>
            <a:r>
              <a:rPr lang="ko-KR" altLang="en-US"/>
              <a:t>모델 성능 평가 </a:t>
            </a:r>
            <a:r>
              <a:rPr lang="en-US" altLang="ko-KR"/>
              <a:t>• </a:t>
            </a:r>
            <a:r>
              <a:rPr lang="ko-KR" altLang="en-US"/>
              <a:t>예측 오류 분석 </a:t>
            </a:r>
            <a:r>
              <a:rPr lang="en-US" altLang="ko-KR"/>
              <a:t>• </a:t>
            </a:r>
            <a:r>
              <a:rPr lang="ko-KR" altLang="en-US"/>
              <a:t>모델 한계 파악 을 통해 기존 시스템의 문제점을 확인</a:t>
            </a: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/>
              <a:t>목표 </a:t>
            </a:r>
            <a:r>
              <a:rPr lang="en-US" altLang="ko-KR"/>
              <a:t>3: </a:t>
            </a:r>
            <a:r>
              <a:rPr lang="ko-KR" altLang="en-US"/>
              <a:t>추가 설문 데이터 확보 더 정확한 분석을 위해 </a:t>
            </a:r>
            <a:r>
              <a:rPr lang="en-US" altLang="ko-KR"/>
              <a:t>AIVLE AIR</a:t>
            </a:r>
            <a:r>
              <a:rPr lang="ko-KR" altLang="en-US"/>
              <a:t>는 고객 참여 이벤트를 통해 추가 설문 데이터를 확보하기로 함 </a:t>
            </a:r>
            <a:r>
              <a:rPr lang="en-US" altLang="ko-KR"/>
              <a:t>• </a:t>
            </a:r>
            <a:r>
              <a:rPr lang="ko-KR" altLang="en-US"/>
              <a:t>설문 참여 고객에게 마일리지 제공 </a:t>
            </a:r>
            <a:r>
              <a:rPr lang="en-US" altLang="ko-KR"/>
              <a:t>• </a:t>
            </a:r>
            <a:r>
              <a:rPr lang="ko-KR" altLang="en-US"/>
              <a:t>무료 기내 </a:t>
            </a:r>
            <a:r>
              <a:rPr lang="en-US" altLang="ko-KR"/>
              <a:t>Wi-Fi </a:t>
            </a:r>
            <a:r>
              <a:rPr lang="ko-KR" altLang="en-US"/>
              <a:t>쿠폰 제공 </a:t>
            </a:r>
            <a:r>
              <a:rPr lang="en-US" altLang="ko-KR"/>
              <a:t>• </a:t>
            </a:r>
            <a:r>
              <a:rPr lang="ko-KR" altLang="en-US"/>
              <a:t>좌석 업그레이드 이벤트 등을 진행하여 새로운 설문 데이터를 수집 예정</a:t>
            </a: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8047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 err="1"/>
              <a:t>이변량</a:t>
            </a:r>
            <a:r>
              <a:rPr lang="ko-KR" altLang="en-US"/>
              <a:t> </a:t>
            </a:r>
            <a:r>
              <a:rPr lang="en-US" altLang="ko-KR"/>
              <a:t>top5</a:t>
            </a:r>
            <a:r>
              <a:rPr lang="ko-KR" altLang="en-US"/>
              <a:t>에 대한 </a:t>
            </a:r>
            <a:r>
              <a:rPr lang="ko-KR" altLang="en-US" err="1"/>
              <a:t>이변량</a:t>
            </a:r>
            <a:r>
              <a:rPr lang="ko-KR" altLang="en-US"/>
              <a:t> 분석 자료입니다</a:t>
            </a:r>
            <a:r>
              <a:rPr lang="en-US" altLang="ko-K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/>
              <a:t>만족도와 해당 항목들의 상관관계가 </a:t>
            </a:r>
            <a:r>
              <a:rPr lang="ko-KR" altLang="en-US" err="1"/>
              <a:t>높은것으로</a:t>
            </a:r>
            <a:r>
              <a:rPr lang="ko-KR" altLang="en-US"/>
              <a:t> 나타났습니다</a:t>
            </a: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Flight service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Online boarding</a:t>
            </a: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1564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Ease of online booking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Flight distance</a:t>
            </a: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7831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Type of travel</a:t>
            </a: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2540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 err="1"/>
              <a:t>딥러닝으로</a:t>
            </a:r>
            <a:r>
              <a:rPr lang="ko-KR" altLang="en-US"/>
              <a:t> 분석을 진행해보았습니다</a:t>
            </a:r>
            <a:r>
              <a:rPr lang="en-US" altLang="ko-K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1</a:t>
            </a:r>
            <a:r>
              <a:rPr lang="ko-KR" altLang="en-US"/>
              <a:t>차 분석을 </a:t>
            </a:r>
            <a:r>
              <a:rPr lang="ko-KR" altLang="en-US" err="1"/>
              <a:t>진행해보았을떄</a:t>
            </a:r>
            <a:r>
              <a:rPr lang="en-US" altLang="ko-KR"/>
              <a:t>,  </a:t>
            </a:r>
            <a:r>
              <a:rPr lang="ko-KR" altLang="en-US"/>
              <a:t>문제점이 불만족 고객에 대한 설문이 적어서</a:t>
            </a: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6729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0708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/>
              <a:t>전체 개선 방안</a:t>
            </a:r>
            <a:r>
              <a:rPr lang="en-US" altLang="ko-KR"/>
              <a:t>: </a:t>
            </a:r>
            <a:r>
              <a:rPr lang="ko-KR" altLang="en-US"/>
              <a:t>공통적으로는 </a:t>
            </a:r>
            <a:r>
              <a:rPr lang="en-US" altLang="ko-KR"/>
              <a:t>online boarding</a:t>
            </a:r>
            <a:r>
              <a:rPr lang="ko-KR" altLang="en-US"/>
              <a:t>이 상관관계가 높게 나타났으므로</a:t>
            </a: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Online boarding</a:t>
            </a:r>
            <a:r>
              <a:rPr lang="ko-KR" altLang="en-US"/>
              <a:t>에 대한 편의성 개선을 진행해야 합니다</a:t>
            </a:r>
            <a:r>
              <a:rPr lang="en-US" altLang="ko-K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 err="1"/>
              <a:t>타겟별</a:t>
            </a:r>
            <a:r>
              <a:rPr lang="ko-KR" altLang="en-US"/>
              <a:t> 개선방안</a:t>
            </a:r>
            <a:r>
              <a:rPr lang="en-US" altLang="ko-KR"/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Age&gt;= 35</a:t>
            </a:r>
            <a:r>
              <a:rPr lang="ko-KR" altLang="en-US"/>
              <a:t>만 </a:t>
            </a:r>
            <a:r>
              <a:rPr lang="en-US" altLang="ko-KR"/>
              <a:t>leg room service</a:t>
            </a:r>
            <a:r>
              <a:rPr lang="ko-KR" altLang="en-US"/>
              <a:t>에 대한 상관관계가 높음</a:t>
            </a: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 err="1"/>
              <a:t>다리쪽</a:t>
            </a:r>
            <a:r>
              <a:rPr lang="ko-KR" altLang="en-US"/>
              <a:t> 공간에 대한 개선을 하면 </a:t>
            </a:r>
            <a:r>
              <a:rPr lang="en-US" altLang="ko-KR"/>
              <a:t>35</a:t>
            </a:r>
            <a:r>
              <a:rPr lang="ko-KR" altLang="en-US"/>
              <a:t>세 이상의 만족도를 크게 </a:t>
            </a:r>
            <a:r>
              <a:rPr lang="ko-KR" altLang="en-US" err="1"/>
              <a:t>높일수</a:t>
            </a:r>
            <a:r>
              <a:rPr lang="ko-KR" altLang="en-US"/>
              <a:t> </a:t>
            </a:r>
            <a:r>
              <a:rPr lang="ko-KR" altLang="en-US" err="1"/>
              <a:t>있을것으로</a:t>
            </a:r>
            <a:r>
              <a:rPr lang="ko-KR" altLang="en-US"/>
              <a:t> 예상한다</a:t>
            </a: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Class</a:t>
            </a:r>
            <a:r>
              <a:rPr lang="ko-KR" altLang="en-US"/>
              <a:t>별 개선 방안 </a:t>
            </a:r>
            <a:br>
              <a:rPr lang="en-US" altLang="ko-KR"/>
            </a:br>
            <a:r>
              <a:rPr lang="ko-KR" altLang="en-US"/>
              <a:t>비즈니스는 전체적으로 만족도가 높으므로 </a:t>
            </a:r>
            <a:r>
              <a:rPr lang="en-US" altLang="ko-KR"/>
              <a:t>Eco/Eco plus</a:t>
            </a:r>
            <a:r>
              <a:rPr lang="ko-KR" altLang="en-US"/>
              <a:t>의 만족도를 개선해야함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Eco</a:t>
            </a:r>
            <a:r>
              <a:rPr lang="ko-KR" altLang="en-US"/>
              <a:t>와 </a:t>
            </a:r>
            <a:r>
              <a:rPr lang="en-US" altLang="ko-KR"/>
              <a:t>Eco plus</a:t>
            </a:r>
            <a:r>
              <a:rPr lang="ko-KR" altLang="en-US"/>
              <a:t>는 </a:t>
            </a:r>
            <a:r>
              <a:rPr lang="en-US" altLang="ko-KR" err="1"/>
              <a:t>wifi</a:t>
            </a:r>
            <a:r>
              <a:rPr lang="ko-KR" altLang="en-US"/>
              <a:t>의 영향을 크게 받음</a:t>
            </a:r>
            <a:r>
              <a:rPr lang="en-US" altLang="ko-KR"/>
              <a:t>, </a:t>
            </a:r>
            <a:r>
              <a:rPr lang="en-US" altLang="ko-KR" err="1"/>
              <a:t>busniess</a:t>
            </a:r>
            <a:r>
              <a:rPr lang="ko-KR" altLang="en-US"/>
              <a:t>는 아님</a:t>
            </a: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Eco- </a:t>
            </a:r>
            <a:r>
              <a:rPr lang="en-US" altLang="ko-KR" err="1"/>
              <a:t>ecoplus</a:t>
            </a:r>
            <a:r>
              <a:rPr lang="ko-KR" altLang="en-US"/>
              <a:t>의 </a:t>
            </a:r>
            <a:r>
              <a:rPr lang="en-US" altLang="ko-KR" err="1"/>
              <a:t>wifi</a:t>
            </a:r>
            <a:r>
              <a:rPr lang="ko-KR" altLang="en-US"/>
              <a:t>개선하면 좋다</a:t>
            </a:r>
            <a:r>
              <a:rPr lang="en-US" altLang="ko-K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ko-KR" altLang="en-US"/>
              <a:t>불만족 고객의 추가적인 설문을 </a:t>
            </a:r>
            <a:r>
              <a:rPr lang="ko-KR" altLang="en-US" err="1"/>
              <a:t>할수</a:t>
            </a:r>
            <a:r>
              <a:rPr lang="ko-KR" altLang="en-US"/>
              <a:t> 있는 방안을 </a:t>
            </a:r>
            <a:r>
              <a:rPr lang="ko-KR" altLang="en-US" err="1"/>
              <a:t>추가해야한다</a:t>
            </a:r>
            <a:r>
              <a:rPr lang="en-US" altLang="ko-K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4249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5586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7085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7CF2056-2E41-4C40-AE19-A9A1125F8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A947DF-4474-4457-99B3-14ADC3E3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2" b="21945"/>
          <a:stretch/>
        </p:blipFill>
        <p:spPr>
          <a:xfrm>
            <a:off x="0" y="0"/>
            <a:ext cx="12192000" cy="36005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30C2DB1-E1BF-4A77-BBF7-D6BABA497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  <p:cxnSp>
        <p:nvCxnSpPr>
          <p:cNvPr id="18" name="Google Shape;18;p3"/>
          <p:cNvCxnSpPr>
            <a:cxnSpLocks/>
            <a:stCxn id="22" idx="1"/>
            <a:endCxn id="22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en-US" altLang="ko-KR" sz="102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31"/>
                <a:buFont typeface="Arial"/>
                <a:buNone/>
              </a:pPr>
              <a:t>‹#›</a:t>
            </a:fld>
            <a:endParaRPr sz="1023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92" b="1" i="0" u="none" strike="noStrike" cap="none">
                <a:solidFill>
                  <a:srgbClr val="34AEAA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Arial"/>
                <a:sym typeface="Arial"/>
              </a:rPr>
              <a:t>KT AIVLE School</a:t>
            </a:r>
            <a:endParaRPr sz="1723">
              <a:solidFill>
                <a:srgbClr val="34AEAA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68935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125444" marR="0" lvl="1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0641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390779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DB33C9-9F17-4570-866B-17EF57204CD7}"/>
              </a:ext>
            </a:extLst>
          </p:cNvPr>
          <p:cNvSpPr/>
          <p:nvPr userDrawn="1"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Google Shape;12;p40">
            <a:extLst>
              <a:ext uri="{FF2B5EF4-FFF2-40B4-BE49-F238E27FC236}">
                <a16:creationId xmlns:a16="http://schemas.microsoft.com/office/drawing/2014/main" id="{101F6C97-5613-4029-91DD-AB91A50C6258}"/>
              </a:ext>
            </a:extLst>
          </p:cNvPr>
          <p:cNvCxnSpPr/>
          <p:nvPr userDrawn="1"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" name="Google Shape;39;p42">
            <a:extLst>
              <a:ext uri="{FF2B5EF4-FFF2-40B4-BE49-F238E27FC236}">
                <a16:creationId xmlns:a16="http://schemas.microsoft.com/office/drawing/2014/main" id="{CD0CE241-17D8-47FB-BD1F-FE7D316AC62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37679" y="404873"/>
            <a:ext cx="131450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7873572" y="3492799"/>
            <a:ext cx="2741372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6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  <a:endParaRPr sz="1723"/>
          </a:p>
        </p:txBody>
      </p:sp>
      <p:pic>
        <p:nvPicPr>
          <p:cNvPr id="31" name="Google Shape;31;p5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2094" y="2907769"/>
            <a:ext cx="2372373" cy="496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4CD8E5-A4BC-4AC3-9C10-5483E0D95A4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4561"/>
            <a:ext cx="12192000" cy="75027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84566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688165" marR="0" lvl="2" indent="-416804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250887" marR="0" lvl="3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54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62722" marR="0" lvl="0" indent="-456586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18524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939052" marR="0" lvl="6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01774" marR="0" lvl="7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64496" marR="0" lvl="8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39EA2-55BD-42D9-A3B3-20D6D22715F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2FEC-B71F-4637-BA7F-AE62DE34BC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04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783B93C-511C-42EC-BD84-5B9B054FB2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97" y="30892"/>
            <a:ext cx="12192000" cy="6858000"/>
          </a:xfrm>
          <a:prstGeom prst="rect">
            <a:avLst/>
          </a:prstGeom>
        </p:spPr>
      </p:pic>
      <p:pic>
        <p:nvPicPr>
          <p:cNvPr id="70" name="Google Shape;39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40;p42"/>
          <p:cNvSpPr/>
          <p:nvPr/>
        </p:nvSpPr>
        <p:spPr>
          <a:xfrm>
            <a:off x="9765915" y="6335312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41;p42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43;p42"/>
          <p:cNvCxnSpPr>
            <a:cxnSpLocks/>
          </p:cNvCxnSpPr>
          <p:nvPr/>
        </p:nvCxnSpPr>
        <p:spPr>
          <a:xfrm>
            <a:off x="862205" y="2286000"/>
            <a:ext cx="0" cy="106975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5" name="Google Shape;57;p11"/>
          <p:cNvSpPr txBox="1">
            <a:spLocks/>
          </p:cNvSpPr>
          <p:nvPr/>
        </p:nvSpPr>
        <p:spPr>
          <a:xfrm>
            <a:off x="983631" y="2223951"/>
            <a:ext cx="9307681" cy="120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ko-KR" altLang="en-US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네오 Regular"/>
                <a:ea typeface="나눔스퀘어 네오 Regular" panose="00000500000000000000" pitchFamily="2" charset="-127"/>
              </a:rPr>
              <a:t>AI 트랙 미니프로젝트  </a:t>
            </a:r>
            <a:r>
              <a:rPr lang="en-US" altLang="ko-KR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네오 Regular"/>
                <a:ea typeface="나눔스퀘어 네오 Regular" panose="00000500000000000000" pitchFamily="2" charset="-127"/>
              </a:rPr>
              <a:t>1</a:t>
            </a:r>
            <a:r>
              <a:rPr lang="ko-KR" altLang="en-US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네오 Regular"/>
                <a:ea typeface="나눔스퀘어 네오 Regular" panose="00000500000000000000" pitchFamily="2" charset="-127"/>
              </a:rPr>
              <a:t>차 </a:t>
            </a:r>
            <a:endParaRPr lang="en-US" altLang="ko-KR" sz="2000" spc="-100">
              <a:ln w="3175">
                <a:solidFill>
                  <a:schemeClr val="tx1">
                    <a:alpha val="30000"/>
                  </a:schemeClr>
                </a:solidFill>
              </a:ln>
              <a:latin typeface="나눔스퀘어 네오 Regular"/>
              <a:ea typeface="나눔스퀘어 네오 Regular" panose="00000500000000000000" pitchFamily="2" charset="-127"/>
            </a:endParaRPr>
          </a:p>
          <a:p>
            <a:pPr algn="l"/>
            <a:endParaRPr lang="en-US" altLang="ko-KR" sz="1000" spc="-100">
              <a:ln w="3175">
                <a:solidFill>
                  <a:schemeClr val="tx1">
                    <a:alpha val="30000"/>
                  </a:scheme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l"/>
            <a:r>
              <a:rPr lang="ko-KR" altLang="en-US" sz="3200" b="1">
                <a:latin typeface="+mn-ea"/>
                <a:ea typeface="+mn-ea"/>
              </a:rPr>
              <a:t>항공 이용 고객 만족도 예측을 통한 서비스 개선</a:t>
            </a:r>
          </a:p>
        </p:txBody>
      </p:sp>
      <p:sp>
        <p:nvSpPr>
          <p:cNvPr id="9" name="Google Shape;57;p11">
            <a:extLst>
              <a:ext uri="{FF2B5EF4-FFF2-40B4-BE49-F238E27FC236}">
                <a16:creationId xmlns:a16="http://schemas.microsoft.com/office/drawing/2014/main" id="{E3927A6B-D301-419B-A687-5B81C9865C94}"/>
              </a:ext>
            </a:extLst>
          </p:cNvPr>
          <p:cNvSpPr txBox="1">
            <a:spLocks/>
          </p:cNvSpPr>
          <p:nvPr/>
        </p:nvSpPr>
        <p:spPr>
          <a:xfrm>
            <a:off x="983632" y="3444241"/>
            <a:ext cx="4202322" cy="64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altLang="ko-KR" sz="3200" b="1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AI O6</a:t>
            </a:r>
            <a:r>
              <a:rPr lang="ko-KR" altLang="en-US" sz="3200" b="1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반</a:t>
            </a:r>
            <a:r>
              <a:rPr lang="en-US" altLang="ko-KR" sz="3200" b="1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 18</a:t>
            </a:r>
            <a:r>
              <a:rPr lang="ko-KR" altLang="en-US" sz="3200" b="1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조</a:t>
            </a:r>
            <a:endParaRPr lang="en-US" altLang="ko-KR" sz="3200" b="1" spc="-10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1F6765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l"/>
            <a:endParaRPr lang="en-US" altLang="ko-KR" sz="3200" b="1" spc="-10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1F6765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l"/>
            <a:endParaRPr lang="en-US" altLang="ko-KR" sz="3200" b="1" spc="-10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1F6765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l"/>
            <a:endParaRPr lang="en-US" altLang="ko-KR" sz="3200" b="1" spc="-10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1F6765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l"/>
            <a:endParaRPr lang="en-US" altLang="ko-KR" sz="3200" b="1" spc="-10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1F6765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49B024-9FBF-41C6-B640-720FC8123821}"/>
              </a:ext>
            </a:extLst>
          </p:cNvPr>
          <p:cNvSpPr txBox="1"/>
          <p:nvPr/>
        </p:nvSpPr>
        <p:spPr>
          <a:xfrm>
            <a:off x="983632" y="4228887"/>
            <a:ext cx="99484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강민수</a:t>
            </a:r>
            <a:r>
              <a:rPr lang="en-US" altLang="ko-KR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,</a:t>
            </a:r>
            <a:r>
              <a:rPr lang="ko-KR" altLang="en-US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 김경순</a:t>
            </a:r>
            <a:r>
              <a:rPr lang="en-US" altLang="ko-KR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김창민</a:t>
            </a:r>
            <a:r>
              <a:rPr lang="en-US" altLang="ko-KR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김현민</a:t>
            </a:r>
            <a:r>
              <a:rPr lang="en-US" altLang="ko-KR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2000" spc="-100" err="1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노경천</a:t>
            </a:r>
            <a:r>
              <a:rPr lang="en-US" altLang="ko-KR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, </a:t>
            </a:r>
          </a:p>
          <a:p>
            <a:pPr algn="l"/>
            <a:r>
              <a:rPr lang="ko-KR" altLang="en-US" sz="2000" spc="-100" err="1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류지후</a:t>
            </a:r>
            <a:r>
              <a:rPr lang="en-US" altLang="ko-KR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,</a:t>
            </a:r>
            <a:r>
              <a:rPr lang="ko-KR" altLang="en-US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 </a:t>
            </a:r>
            <a:r>
              <a:rPr lang="ko-KR" altLang="en-US" sz="2000" spc="-100" err="1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성현석</a:t>
            </a:r>
            <a:r>
              <a:rPr lang="en-US" altLang="ko-KR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장봉경</a:t>
            </a:r>
            <a:r>
              <a:rPr lang="en-US" altLang="ko-KR" sz="20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2000" spc="-100" err="1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장윤재</a:t>
            </a:r>
            <a:endParaRPr lang="en-US" altLang="ko-KR" sz="2000" spc="-100">
              <a:ln w="3175">
                <a:solidFill>
                  <a:schemeClr val="tx1">
                    <a:alpha val="30000"/>
                  </a:schemeClr>
                </a:solidFill>
              </a:ln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5561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5D47633-B3D4-4614-8B04-F1A885391340}"/>
              </a:ext>
            </a:extLst>
          </p:cNvPr>
          <p:cNvSpPr/>
          <p:nvPr/>
        </p:nvSpPr>
        <p:spPr>
          <a:xfrm>
            <a:off x="616925" y="3155690"/>
            <a:ext cx="10841805" cy="1384995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Arial"/>
                <a:sym typeface="Arial"/>
              </a:rPr>
              <a:t>요구사항 분석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A199B9-2876-435E-84C0-912B48C16E85}"/>
              </a:ext>
            </a:extLst>
          </p:cNvPr>
          <p:cNvSpPr/>
          <p:nvPr/>
        </p:nvSpPr>
        <p:spPr>
          <a:xfrm>
            <a:off x="450813" y="1309272"/>
            <a:ext cx="3642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15"/>
              </a:spcBef>
              <a:buSzPts val="1800"/>
            </a:pPr>
            <a:r>
              <a:rPr lang="en-US" altLang="ko-KR" sz="2000" b="1">
                <a:latin typeface="+mn-ea"/>
                <a:ea typeface="+mn-ea"/>
              </a:rPr>
              <a:t>  </a:t>
            </a:r>
            <a:endParaRPr lang="ko-KR" altLang="en-US" sz="2000" b="1"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4658B-C3B3-41D2-83C4-455237456A25}"/>
              </a:ext>
            </a:extLst>
          </p:cNvPr>
          <p:cNvSpPr/>
          <p:nvPr/>
        </p:nvSpPr>
        <p:spPr>
          <a:xfrm>
            <a:off x="632914" y="1513228"/>
            <a:ext cx="10841805" cy="1384995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2BE50C-4854-45C8-B856-B6466EE6E747}"/>
              </a:ext>
            </a:extLst>
          </p:cNvPr>
          <p:cNvSpPr/>
          <p:nvPr/>
        </p:nvSpPr>
        <p:spPr>
          <a:xfrm>
            <a:off x="2648849" y="2047169"/>
            <a:ext cx="103969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ts val="2167"/>
            </a:pPr>
            <a:r>
              <a:rPr lang="ko-KR" altLang="en-US">
                <a:latin typeface="Segoe UI" panose="020B0502040204020203" pitchFamily="34" charset="0"/>
              </a:rPr>
              <a:t>실질적인 고객만족도를 </a:t>
            </a:r>
            <a:r>
              <a:rPr lang="ko-KR" altLang="en-US" err="1">
                <a:latin typeface="Segoe UI" panose="020B0502040204020203" pitchFamily="34" charset="0"/>
              </a:rPr>
              <a:t>높히기</a:t>
            </a:r>
            <a:r>
              <a:rPr lang="ko-KR" altLang="en-US">
                <a:latin typeface="Segoe UI" panose="020B0502040204020203" pitchFamily="34" charset="0"/>
              </a:rPr>
              <a:t> 위해 부정적 </a:t>
            </a:r>
            <a:r>
              <a:rPr lang="ko-KR" altLang="en-US">
                <a:effectLst/>
                <a:latin typeface="Segoe UI" panose="020B0502040204020203" pitchFamily="34" charset="0"/>
              </a:rPr>
              <a:t>영향을 끼치는 서비스요인을 파악하고 개선</a:t>
            </a:r>
            <a:endParaRPr lang="en-US" altLang="ko-KR">
              <a:effectLst/>
              <a:latin typeface="Segoe UI" panose="020B0502040204020203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575535-3BD8-4389-A781-F834ACFA8B92}"/>
              </a:ext>
            </a:extLst>
          </p:cNvPr>
          <p:cNvSpPr/>
          <p:nvPr/>
        </p:nvSpPr>
        <p:spPr>
          <a:xfrm>
            <a:off x="895004" y="2201058"/>
            <a:ext cx="103969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ts val="2167"/>
            </a:pPr>
            <a:endParaRPr lang="en-US" altLang="ko-KR" b="1"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49C61F-2C20-43CC-B05E-76212FBEEBF1}"/>
              </a:ext>
            </a:extLst>
          </p:cNvPr>
          <p:cNvSpPr/>
          <p:nvPr/>
        </p:nvSpPr>
        <p:spPr>
          <a:xfrm>
            <a:off x="624663" y="4770477"/>
            <a:ext cx="10841805" cy="1384995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897D55-F6FD-4C2F-9509-C3475760193D}"/>
              </a:ext>
            </a:extLst>
          </p:cNvPr>
          <p:cNvSpPr txBox="1"/>
          <p:nvPr/>
        </p:nvSpPr>
        <p:spPr>
          <a:xfrm>
            <a:off x="927385" y="2057913"/>
            <a:ext cx="1426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목표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4444A-9412-4A02-95AC-EE4ECB68C6FF}"/>
              </a:ext>
            </a:extLst>
          </p:cNvPr>
          <p:cNvSpPr txBox="1"/>
          <p:nvPr/>
        </p:nvSpPr>
        <p:spPr>
          <a:xfrm>
            <a:off x="927385" y="3588994"/>
            <a:ext cx="1235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상황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9FC39-C267-4F3F-BC16-AF94D3DB60F4}"/>
              </a:ext>
            </a:extLst>
          </p:cNvPr>
          <p:cNvSpPr txBox="1"/>
          <p:nvPr/>
        </p:nvSpPr>
        <p:spPr>
          <a:xfrm>
            <a:off x="927385" y="5233707"/>
            <a:ext cx="925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사례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43AF3A-8914-470F-A15C-8FF5A6D820CE}"/>
              </a:ext>
            </a:extLst>
          </p:cNvPr>
          <p:cNvSpPr txBox="1"/>
          <p:nvPr/>
        </p:nvSpPr>
        <p:spPr>
          <a:xfrm>
            <a:off x="2580205" y="4907665"/>
            <a:ext cx="64397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“</a:t>
            </a:r>
            <a:r>
              <a:rPr lang="ko-KR" altLang="en-US"/>
              <a:t>기내 서비스는 친절했지만 출발이 </a:t>
            </a:r>
            <a:r>
              <a:rPr lang="en-US" altLang="ko-KR"/>
              <a:t>40</a:t>
            </a:r>
            <a:r>
              <a:rPr lang="ko-KR" altLang="en-US"/>
              <a:t>분 지연되어 일정이 많이 밀렸습니다</a:t>
            </a:r>
            <a:r>
              <a:rPr lang="en-US" altLang="ko-KR"/>
              <a:t>.”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“</a:t>
            </a:r>
            <a:r>
              <a:rPr lang="ko-KR" altLang="en-US"/>
              <a:t>좌석은 편안했지만 온라인 체크인 과정이 조금 불편했습니다</a:t>
            </a:r>
            <a:r>
              <a:rPr lang="en-US" altLang="ko-KR"/>
              <a:t>.”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“</a:t>
            </a:r>
            <a:r>
              <a:rPr lang="ko-KR" altLang="en-US"/>
              <a:t>기내 엔터테인먼트는 좋았지만 다리 공간이 조금 좁게 느껴졌습니다</a:t>
            </a:r>
            <a:r>
              <a:rPr lang="en-US" altLang="ko-KR"/>
              <a:t>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 “</a:t>
            </a:r>
            <a:r>
              <a:rPr lang="ko-KR" altLang="en-US"/>
              <a:t>기내 음식은 만족스러웠지만 탑승 게이트 위치가 멀어서 이동이 힘들었습니다</a:t>
            </a:r>
            <a:r>
              <a:rPr lang="en-US" altLang="ko-KR"/>
              <a:t>.”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r>
              <a:rPr lang="en-US" altLang="ko-KR"/>
              <a:t>“</a:t>
            </a:r>
            <a:r>
              <a:rPr lang="ko-KR" altLang="en-US"/>
              <a:t>전체적으로 나쁘지는 않았지만 기대했던 것보다는 아쉬운 점이 있었습니다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66F29A-F496-47F6-BB01-4A7BA79DC940}"/>
              </a:ext>
            </a:extLst>
          </p:cNvPr>
          <p:cNvSpPr txBox="1"/>
          <p:nvPr/>
        </p:nvSpPr>
        <p:spPr>
          <a:xfrm>
            <a:off x="2679590" y="3561902"/>
            <a:ext cx="7633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설문 만족도에 비해</a:t>
            </a:r>
            <a:r>
              <a:rPr lang="en-US" altLang="ko-KR"/>
              <a:t>, </a:t>
            </a:r>
            <a:r>
              <a:rPr lang="ko-KR" altLang="en-US"/>
              <a:t>실제 고객 만족도가 낮음</a:t>
            </a:r>
          </a:p>
        </p:txBody>
      </p:sp>
    </p:spTree>
    <p:extLst>
      <p:ext uri="{BB962C8B-B14F-4D97-AF65-F5344CB8AC3E}">
        <p14:creationId xmlns:p14="http://schemas.microsoft.com/office/powerpoint/2010/main" val="985505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D2C95C-BC5B-4BE7-8D9B-36FD92C319A4}"/>
              </a:ext>
            </a:extLst>
          </p:cNvPr>
          <p:cNvSpPr/>
          <p:nvPr/>
        </p:nvSpPr>
        <p:spPr>
          <a:xfrm>
            <a:off x="7546056" y="1709382"/>
            <a:ext cx="3334008" cy="4516490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Arial"/>
                <a:sym typeface="Arial"/>
              </a:rPr>
              <a:t>데이터 분석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A199B9-2876-435E-84C0-912B48C16E85}"/>
              </a:ext>
            </a:extLst>
          </p:cNvPr>
          <p:cNvSpPr/>
          <p:nvPr/>
        </p:nvSpPr>
        <p:spPr>
          <a:xfrm>
            <a:off x="450813" y="1309272"/>
            <a:ext cx="68085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15"/>
              </a:spcBef>
              <a:buSzPts val="1800"/>
            </a:pPr>
            <a:r>
              <a:rPr lang="ko-KR" altLang="en-US" sz="2000" b="1" err="1">
                <a:latin typeface="+mn-ea"/>
                <a:ea typeface="+mn-ea"/>
              </a:rPr>
              <a:t>머신러닝</a:t>
            </a:r>
            <a:r>
              <a:rPr lang="ko-KR" altLang="en-US" sz="2000" b="1">
                <a:latin typeface="+mn-ea"/>
                <a:ea typeface="+mn-ea"/>
              </a:rPr>
              <a:t> 모델 </a:t>
            </a:r>
            <a:r>
              <a:rPr lang="en-US" altLang="ko-KR" sz="2000" b="1">
                <a:latin typeface="+mn-ea"/>
                <a:ea typeface="+mn-ea"/>
              </a:rPr>
              <a:t>(Random Forest) </a:t>
            </a:r>
            <a:r>
              <a:rPr lang="ko-KR" altLang="en-US" sz="2000" b="1">
                <a:latin typeface="+mn-ea"/>
                <a:ea typeface="+mn-ea"/>
              </a:rPr>
              <a:t>결과</a:t>
            </a:r>
            <a:r>
              <a:rPr lang="en-US" altLang="ko-KR" sz="2000" b="1">
                <a:latin typeface="+mn-ea"/>
                <a:ea typeface="+mn-ea"/>
              </a:rPr>
              <a:t>, </a:t>
            </a:r>
            <a:r>
              <a:rPr lang="ko-KR" altLang="en-US" sz="2000" b="1">
                <a:latin typeface="+mn-ea"/>
                <a:ea typeface="+mn-ea"/>
              </a:rPr>
              <a:t>변수중요도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4658B-C3B3-41D2-83C4-455237456A25}"/>
              </a:ext>
            </a:extLst>
          </p:cNvPr>
          <p:cNvSpPr/>
          <p:nvPr/>
        </p:nvSpPr>
        <p:spPr>
          <a:xfrm>
            <a:off x="3134907" y="1709382"/>
            <a:ext cx="3334008" cy="4516490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2BE50C-4854-45C8-B856-B6466EE6E747}"/>
              </a:ext>
            </a:extLst>
          </p:cNvPr>
          <p:cNvSpPr/>
          <p:nvPr/>
        </p:nvSpPr>
        <p:spPr>
          <a:xfrm>
            <a:off x="3241547" y="1873492"/>
            <a:ext cx="28397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/>
              <a:t>고객 만족도에 영향을 미치는 핵심 요인 파악 </a:t>
            </a:r>
            <a:r>
              <a:rPr lang="en-US" altLang="ko-KR"/>
              <a:t>: </a:t>
            </a:r>
            <a:r>
              <a:rPr lang="en-US" altLang="ko-KR">
                <a:latin typeface="Segoe UI" panose="020B0502040204020203" pitchFamily="34" charset="0"/>
              </a:rPr>
              <a:t>Top</a:t>
            </a:r>
            <a:r>
              <a:rPr lang="ko-KR" altLang="en-US">
                <a:latin typeface="Segoe UI" panose="020B0502040204020203" pitchFamily="34" charset="0"/>
              </a:rPr>
              <a:t> </a:t>
            </a:r>
            <a:r>
              <a:rPr lang="en-US" altLang="ko-KR">
                <a:latin typeface="Segoe UI" panose="020B0502040204020203" pitchFamily="34" charset="0"/>
              </a:rPr>
              <a:t>5</a:t>
            </a:r>
            <a:r>
              <a:rPr lang="ko-KR" altLang="en-US">
                <a:latin typeface="Segoe UI" panose="020B0502040204020203" pitchFamily="34" charset="0"/>
              </a:rPr>
              <a:t> </a:t>
            </a:r>
            <a:endParaRPr lang="en-US" altLang="ko-KR">
              <a:latin typeface="Segoe UI" panose="020B0502040204020203" pitchFamily="34" charset="0"/>
            </a:endParaRPr>
          </a:p>
          <a:p>
            <a:pPr marL="310296" indent="-310296">
              <a:buClr>
                <a:schemeClr val="dk1"/>
              </a:buClr>
              <a:buSzPts val="2167"/>
              <a:buFont typeface="Noto Sans Symbols"/>
              <a:buChar char="✔"/>
            </a:pPr>
            <a:endParaRPr lang="en-US" altLang="ko-KR">
              <a:latin typeface="Segoe UI" panose="020B0502040204020203" pitchFamily="34" charset="0"/>
            </a:endParaRPr>
          </a:p>
          <a:p>
            <a:pPr marL="310296" indent="-310296"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>
                <a:latin typeface="Segoe UI" panose="020B0502040204020203" pitchFamily="34" charset="0"/>
              </a:rPr>
              <a:t>전체</a:t>
            </a:r>
            <a:r>
              <a:rPr lang="en-US" altLang="ko-KR">
                <a:latin typeface="Segoe UI" panose="020B0502040204020203" pitchFamily="34" charset="0"/>
              </a:rPr>
              <a:t>, 35</a:t>
            </a:r>
            <a:r>
              <a:rPr lang="ko-KR" altLang="en-US">
                <a:latin typeface="Segoe UI" panose="020B0502040204020203" pitchFamily="34" charset="0"/>
              </a:rPr>
              <a:t>세 이하</a:t>
            </a:r>
            <a:r>
              <a:rPr lang="en-US" altLang="ko-KR">
                <a:latin typeface="Segoe UI" panose="020B0502040204020203" pitchFamily="34" charset="0"/>
              </a:rPr>
              <a:t>, 35</a:t>
            </a:r>
            <a:r>
              <a:rPr lang="ko-KR" altLang="en-US">
                <a:latin typeface="Segoe UI" panose="020B0502040204020203" pitchFamily="34" charset="0"/>
              </a:rPr>
              <a:t>세 초과</a:t>
            </a:r>
            <a:endParaRPr lang="en-US" altLang="ko-KR"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15CEC-D486-407E-9BF9-9AEAC64B76E0}"/>
              </a:ext>
            </a:extLst>
          </p:cNvPr>
          <p:cNvSpPr txBox="1"/>
          <p:nvPr/>
        </p:nvSpPr>
        <p:spPr>
          <a:xfrm>
            <a:off x="7803625" y="1981213"/>
            <a:ext cx="2713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0296" indent="-310296"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>
                <a:latin typeface="Segoe UI" panose="020B0502040204020203" pitchFamily="34" charset="0"/>
              </a:rPr>
              <a:t>우리의 분석 결과</a:t>
            </a:r>
            <a:r>
              <a:rPr lang="en-US" altLang="ko-KR">
                <a:latin typeface="Segoe UI" panose="020B0502040204020203" pitchFamily="34" charset="0"/>
              </a:rPr>
              <a:t>, </a:t>
            </a:r>
            <a:r>
              <a:rPr lang="ko-KR" altLang="en-US">
                <a:latin typeface="Segoe UI" panose="020B0502040204020203" pitchFamily="34" charset="0"/>
              </a:rPr>
              <a:t>실제와의 </a:t>
            </a:r>
            <a:r>
              <a:rPr lang="en-US" altLang="ko-KR">
                <a:latin typeface="Segoe UI" panose="020B0502040204020203" pitchFamily="34" charset="0"/>
              </a:rPr>
              <a:t>gap, </a:t>
            </a:r>
            <a:r>
              <a:rPr lang="ko-KR" altLang="en-US">
                <a:latin typeface="Segoe UI" panose="020B0502040204020203" pitchFamily="34" charset="0"/>
              </a:rPr>
              <a:t>연령 그룹별 차이 등</a:t>
            </a:r>
            <a:endParaRPr lang="en-US" altLang="ko-KR">
              <a:latin typeface="Segoe UI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332E39-BE15-4DEA-963D-279C890669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944"/>
          <a:stretch/>
        </p:blipFill>
        <p:spPr>
          <a:xfrm>
            <a:off x="3241548" y="3013545"/>
            <a:ext cx="3140030" cy="84403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E4484C6-C633-4638-99CB-C08F36155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885" y="4121328"/>
            <a:ext cx="3236030" cy="88542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123FAE4-9D30-442F-99C0-CAA6C53DF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948" y="5204443"/>
            <a:ext cx="3187990" cy="87499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B0739BA-8ADB-43EE-8C14-571782420045}"/>
              </a:ext>
            </a:extLst>
          </p:cNvPr>
          <p:cNvSpPr txBox="1"/>
          <p:nvPr/>
        </p:nvSpPr>
        <p:spPr>
          <a:xfrm>
            <a:off x="8015431" y="3013545"/>
            <a:ext cx="2451100" cy="2961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BAE1B0-302C-4240-843A-7C95736F8189}"/>
              </a:ext>
            </a:extLst>
          </p:cNvPr>
          <p:cNvSpPr txBox="1"/>
          <p:nvPr/>
        </p:nvSpPr>
        <p:spPr>
          <a:xfrm>
            <a:off x="7803625" y="3013545"/>
            <a:ext cx="266290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effectLst/>
                <a:latin typeface="Segoe UI" panose="020B0502040204020203" pitchFamily="34" charset="0"/>
              </a:rPr>
              <a:t>설문 분석 결과 기내 서비스보다 비행 전후의 디지털 프로세스의 변수 중요도가 높은 걸로 나왔다 실제 현장에서의 서비스 </a:t>
            </a:r>
            <a:r>
              <a:rPr lang="en-US" altLang="ko-KR">
                <a:effectLst/>
                <a:latin typeface="Segoe UI" panose="020B0502040204020203" pitchFamily="34" charset="0"/>
              </a:rPr>
              <a:t>.</a:t>
            </a:r>
          </a:p>
          <a:p>
            <a:endParaRPr lang="en-US" altLang="ko-KR">
              <a:latin typeface="Segoe UI" panose="020B0502040204020203" pitchFamily="34" charset="0"/>
            </a:endParaRPr>
          </a:p>
          <a:p>
            <a:r>
              <a:rPr lang="ko-KR" altLang="en-US">
                <a:effectLst/>
                <a:latin typeface="Segoe UI" panose="020B0502040204020203" pitchFamily="34" charset="0"/>
              </a:rPr>
              <a:t> </a:t>
            </a:r>
            <a:r>
              <a:rPr lang="en-US" altLang="ko-KR">
                <a:effectLst/>
                <a:latin typeface="Segoe UI" panose="020B0502040204020203" pitchFamily="34" charset="0"/>
              </a:rPr>
              <a:t>35</a:t>
            </a:r>
            <a:r>
              <a:rPr lang="ko-KR" altLang="en-US">
                <a:effectLst/>
                <a:latin typeface="Segoe UI" panose="020B0502040204020203" pitchFamily="34" charset="0"/>
              </a:rPr>
              <a:t>세 이상의 연령층에서는 다른 그룹과 달리 </a:t>
            </a:r>
            <a:r>
              <a:rPr lang="en-US" altLang="ko-KR">
                <a:effectLst/>
                <a:latin typeface="Segoe UI" panose="020B0502040204020203" pitchFamily="34" charset="0"/>
              </a:rPr>
              <a:t>Leg room service</a:t>
            </a:r>
            <a:r>
              <a:rPr lang="ko-KR" altLang="en-US">
                <a:effectLst/>
                <a:latin typeface="Segoe UI" panose="020B0502040204020203" pitchFamily="34" charset="0"/>
              </a:rPr>
              <a:t>가 순위에 있다</a:t>
            </a:r>
            <a:r>
              <a:rPr lang="en-US" altLang="ko-KR">
                <a:effectLst/>
                <a:latin typeface="Segoe UI" panose="020B0502040204020203" pitchFamily="34" charset="0"/>
              </a:rPr>
              <a:t>. </a:t>
            </a:r>
            <a:r>
              <a:rPr lang="ko-KR" altLang="en-US">
                <a:effectLst/>
                <a:latin typeface="Segoe UI" panose="020B0502040204020203" pitchFamily="34" charset="0"/>
              </a:rPr>
              <a:t>좌석의 편안함이 주요 변수 </a:t>
            </a:r>
            <a:r>
              <a:rPr lang="ko-KR" altLang="en-US" err="1">
                <a:effectLst/>
                <a:latin typeface="Segoe UI" panose="020B0502040204020203" pitchFamily="34" charset="0"/>
              </a:rPr>
              <a:t>인것으로</a:t>
            </a:r>
            <a:r>
              <a:rPr lang="ko-KR" altLang="en-US">
                <a:effectLst/>
                <a:latin typeface="Segoe UI" panose="020B0502040204020203" pitchFamily="34" charset="0"/>
              </a:rPr>
              <a:t> 보인다</a:t>
            </a:r>
            <a:r>
              <a:rPr lang="en-US" altLang="ko-KR">
                <a:effectLst/>
                <a:latin typeface="Segoe UI" panose="020B0502040204020203" pitchFamily="34" charset="0"/>
              </a:rPr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38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Arial"/>
                <a:sym typeface="Arial"/>
              </a:rPr>
              <a:t>데이터 분석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A199B9-2876-435E-84C0-912B48C16E85}"/>
              </a:ext>
            </a:extLst>
          </p:cNvPr>
          <p:cNvSpPr/>
          <p:nvPr/>
        </p:nvSpPr>
        <p:spPr>
          <a:xfrm>
            <a:off x="450813" y="1309272"/>
            <a:ext cx="15568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15"/>
              </a:spcBef>
              <a:buSzPts val="1800"/>
            </a:pPr>
            <a:r>
              <a:rPr lang="ko-KR" altLang="en-US" sz="2000" b="1" err="1">
                <a:latin typeface="+mn-ea"/>
                <a:ea typeface="+mn-ea"/>
              </a:rPr>
              <a:t>이변량</a:t>
            </a:r>
            <a:r>
              <a:rPr lang="ko-KR" altLang="en-US" sz="2000" b="1">
                <a:latin typeface="+mn-ea"/>
                <a:ea typeface="+mn-ea"/>
              </a:rPr>
              <a:t> 분석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F7633FE-73BC-402D-94CE-94B5519B5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936" y="1639477"/>
            <a:ext cx="6808596" cy="2231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9978BC66-EA81-4783-BD07-3F4B8FFCC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935" y="4102817"/>
            <a:ext cx="6808597" cy="2231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51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Arial"/>
                <a:sym typeface="Arial"/>
              </a:rPr>
              <a:t>데이터 분석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A199B9-2876-435E-84C0-912B48C16E85}"/>
              </a:ext>
            </a:extLst>
          </p:cNvPr>
          <p:cNvSpPr/>
          <p:nvPr/>
        </p:nvSpPr>
        <p:spPr>
          <a:xfrm>
            <a:off x="450813" y="1309272"/>
            <a:ext cx="15568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15"/>
              </a:spcBef>
              <a:buSzPts val="1800"/>
            </a:pPr>
            <a:r>
              <a:rPr lang="ko-KR" altLang="en-US" sz="2000" b="1" err="1">
                <a:latin typeface="+mn-ea"/>
                <a:ea typeface="+mn-ea"/>
              </a:rPr>
              <a:t>이변량</a:t>
            </a:r>
            <a:r>
              <a:rPr lang="ko-KR" altLang="en-US" sz="2000" b="1">
                <a:latin typeface="+mn-ea"/>
                <a:ea typeface="+mn-ea"/>
              </a:rPr>
              <a:t> 분석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7789923D-7CA1-4805-A696-28B5CFAE7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569" y="1309272"/>
            <a:ext cx="7310857" cy="239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C4BBAE13-8B32-4503-9712-857F153E0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569" y="3976416"/>
            <a:ext cx="7310857" cy="239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88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Arial"/>
                <a:sym typeface="Arial"/>
              </a:rPr>
              <a:t>데이터 분석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A199B9-2876-435E-84C0-912B48C16E85}"/>
              </a:ext>
            </a:extLst>
          </p:cNvPr>
          <p:cNvSpPr/>
          <p:nvPr/>
        </p:nvSpPr>
        <p:spPr>
          <a:xfrm>
            <a:off x="450813" y="1309272"/>
            <a:ext cx="15568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15"/>
              </a:spcBef>
              <a:buSzPts val="1800"/>
            </a:pPr>
            <a:r>
              <a:rPr lang="ko-KR" altLang="en-US" sz="2000" b="1" err="1">
                <a:latin typeface="+mn-ea"/>
                <a:ea typeface="+mn-ea"/>
              </a:rPr>
              <a:t>이변량</a:t>
            </a:r>
            <a:r>
              <a:rPr lang="ko-KR" altLang="en-US" sz="2000" b="1">
                <a:latin typeface="+mn-ea"/>
                <a:ea typeface="+mn-ea"/>
              </a:rPr>
              <a:t> 분석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8772E3-FFB0-4145-A8B6-42132F8E4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415" y="1309272"/>
            <a:ext cx="6478307" cy="511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1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Arial"/>
                <a:sym typeface="Arial"/>
              </a:rPr>
              <a:t>모델링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A199B9-2876-435E-84C0-912B48C16E85}"/>
              </a:ext>
            </a:extLst>
          </p:cNvPr>
          <p:cNvSpPr/>
          <p:nvPr/>
        </p:nvSpPr>
        <p:spPr>
          <a:xfrm>
            <a:off x="450813" y="1309272"/>
            <a:ext cx="3863558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15"/>
              </a:spcBef>
              <a:buSzPts val="1800"/>
            </a:pPr>
            <a:r>
              <a:rPr lang="ko-KR" altLang="en-US" sz="2000" b="1">
                <a:latin typeface="+mn-ea"/>
                <a:ea typeface="+mn-ea"/>
              </a:rPr>
              <a:t>딥러닝</a:t>
            </a:r>
            <a:r>
              <a:rPr lang="en-US" altLang="ko-KR" sz="2000" b="1">
                <a:latin typeface="+mn-ea"/>
                <a:ea typeface="+mn-ea"/>
              </a:rPr>
              <a:t>(1</a:t>
            </a:r>
            <a:r>
              <a:rPr lang="ko-KR" altLang="en-US" sz="2000" b="1">
                <a:latin typeface="+mn-ea"/>
                <a:ea typeface="+mn-ea"/>
              </a:rPr>
              <a:t>차 자료 딥러닝 데이터</a:t>
            </a:r>
            <a:r>
              <a:rPr lang="en-US" altLang="ko-KR" sz="2000" b="1">
                <a:latin typeface="+mn-ea"/>
                <a:ea typeface="+mn-ea"/>
              </a:rPr>
              <a:t>)</a:t>
            </a:r>
            <a:endParaRPr lang="ko-KR" altLang="en-US" sz="2000"/>
          </a:p>
          <a:p>
            <a:pPr>
              <a:spcBef>
                <a:spcPts val="615"/>
              </a:spcBef>
              <a:buSzPts val="1800"/>
            </a:pPr>
            <a:endParaRPr lang="ko-KR" altLang="en-US" sz="2000" b="1">
              <a:latin typeface="+mn-ea"/>
              <a:ea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35201D-E681-4E6A-9DCC-A281564FF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0406" y="2094102"/>
            <a:ext cx="5035717" cy="196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46AF644-B2C2-4F8B-9817-4F9996239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406" y="4315718"/>
            <a:ext cx="3365092" cy="18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74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Arial"/>
                <a:sym typeface="Arial"/>
              </a:rPr>
              <a:t>모델링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A199B9-2876-435E-84C0-912B48C16E85}"/>
              </a:ext>
            </a:extLst>
          </p:cNvPr>
          <p:cNvSpPr/>
          <p:nvPr/>
        </p:nvSpPr>
        <p:spPr>
          <a:xfrm>
            <a:off x="450813" y="1309272"/>
            <a:ext cx="27655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15"/>
              </a:spcBef>
              <a:buSzPts val="1800"/>
            </a:pPr>
            <a:r>
              <a:rPr lang="ko-KR" altLang="en-US" sz="2000" b="1">
                <a:latin typeface="+mn-ea"/>
                <a:ea typeface="+mn-ea"/>
              </a:rPr>
              <a:t>딥러닝</a:t>
            </a:r>
            <a:r>
              <a:rPr lang="en-US" altLang="ko-KR" sz="2000" b="1">
                <a:latin typeface="+mn-ea"/>
                <a:ea typeface="+mn-ea"/>
              </a:rPr>
              <a:t>(</a:t>
            </a:r>
            <a:r>
              <a:rPr lang="ko-KR" altLang="en-US" sz="2000" b="1">
                <a:latin typeface="+mn-ea"/>
                <a:ea typeface="+mn-ea"/>
              </a:rPr>
              <a:t>추가학습 자료</a:t>
            </a:r>
            <a:r>
              <a:rPr lang="en-US" altLang="ko-KR" sz="2000" b="1">
                <a:latin typeface="+mn-ea"/>
                <a:ea typeface="+mn-ea"/>
              </a:rPr>
              <a:t>)</a:t>
            </a:r>
            <a:endParaRPr lang="ko-KR" altLang="en-US" sz="2000" b="1">
              <a:latin typeface="+mn-ea"/>
              <a:ea typeface="+mn-ea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E2F0D49B-0A55-4AE3-9801-E92C3E0D6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822" y="1709382"/>
            <a:ext cx="5979759" cy="221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69FA31D-8920-4D5F-BE21-787C8C85D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822" y="4146168"/>
            <a:ext cx="2887907" cy="160439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799C461-B3AF-4535-B6F1-BB7EA9297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9674" y="4146168"/>
            <a:ext cx="2887907" cy="1800372"/>
          </a:xfrm>
          <a:prstGeom prst="rect">
            <a:avLst/>
          </a:prstGeom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3359E734-1C84-4C62-90AB-DD5C584AD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18" y="1808480"/>
            <a:ext cx="3432629" cy="436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016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5D47633-B3D4-4614-8B04-F1A885391340}"/>
              </a:ext>
            </a:extLst>
          </p:cNvPr>
          <p:cNvSpPr/>
          <p:nvPr/>
        </p:nvSpPr>
        <p:spPr>
          <a:xfrm>
            <a:off x="616925" y="3155690"/>
            <a:ext cx="10841805" cy="1384995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spcBef>
                <a:spcPts val="615"/>
              </a:spcBef>
              <a:buSzPts val="1800"/>
            </a:pPr>
            <a:r>
              <a:rPr lang="ko-KR" altLang="en-US" sz="2800" b="1">
                <a:latin typeface="+mn-ea"/>
                <a:ea typeface="+mn-ea"/>
              </a:rPr>
              <a:t>결론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A199B9-2876-435E-84C0-912B48C16E85}"/>
              </a:ext>
            </a:extLst>
          </p:cNvPr>
          <p:cNvSpPr/>
          <p:nvPr/>
        </p:nvSpPr>
        <p:spPr>
          <a:xfrm>
            <a:off x="450813" y="1309272"/>
            <a:ext cx="3642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15"/>
              </a:spcBef>
              <a:buSzPts val="1800"/>
            </a:pPr>
            <a:r>
              <a:rPr lang="en-US" altLang="ko-KR" sz="2000" b="1">
                <a:latin typeface="+mn-ea"/>
                <a:ea typeface="+mn-ea"/>
              </a:rPr>
              <a:t>  </a:t>
            </a:r>
            <a:endParaRPr lang="ko-KR" altLang="en-US" sz="2000" b="1"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4658B-C3B3-41D2-83C4-455237456A25}"/>
              </a:ext>
            </a:extLst>
          </p:cNvPr>
          <p:cNvSpPr/>
          <p:nvPr/>
        </p:nvSpPr>
        <p:spPr>
          <a:xfrm>
            <a:off x="616924" y="1532962"/>
            <a:ext cx="10841805" cy="1384995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/>
              <a:t>ㅇ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2BE50C-4854-45C8-B856-B6466EE6E747}"/>
              </a:ext>
            </a:extLst>
          </p:cNvPr>
          <p:cNvSpPr/>
          <p:nvPr/>
        </p:nvSpPr>
        <p:spPr>
          <a:xfrm>
            <a:off x="2580205" y="1939448"/>
            <a:ext cx="103969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ts val="2167"/>
            </a:pPr>
            <a:r>
              <a:rPr lang="ko-KR" altLang="en-US"/>
              <a:t>만족도 영향 변수 중 항공 이용 온라인 서비스 관련 중요도가 높으므로 </a:t>
            </a:r>
            <a:endParaRPr lang="en-US" altLang="ko-KR"/>
          </a:p>
          <a:p>
            <a:pPr>
              <a:buClr>
                <a:schemeClr val="dk1"/>
              </a:buClr>
              <a:buSzPts val="2167"/>
            </a:pPr>
            <a:r>
              <a:rPr lang="en-US" altLang="ko-KR"/>
              <a:t>Online service</a:t>
            </a:r>
            <a:r>
              <a:rPr lang="ko-KR" altLang="en-US"/>
              <a:t>에 대한 편의성 관리 강화 및 보수</a:t>
            </a:r>
            <a:endParaRPr lang="en-US" altLang="ko-KR">
              <a:effectLst/>
              <a:latin typeface="Segoe UI" panose="020B0502040204020203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575535-3BD8-4389-A781-F834ACFA8B92}"/>
              </a:ext>
            </a:extLst>
          </p:cNvPr>
          <p:cNvSpPr/>
          <p:nvPr/>
        </p:nvSpPr>
        <p:spPr>
          <a:xfrm>
            <a:off x="947948" y="2323895"/>
            <a:ext cx="103969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ts val="2167"/>
            </a:pPr>
            <a:endParaRPr lang="en-US" altLang="ko-KR" b="1"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49C61F-2C20-43CC-B05E-76212FBEEBF1}"/>
              </a:ext>
            </a:extLst>
          </p:cNvPr>
          <p:cNvSpPr/>
          <p:nvPr/>
        </p:nvSpPr>
        <p:spPr>
          <a:xfrm>
            <a:off x="616924" y="4770790"/>
            <a:ext cx="10841805" cy="1384995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897D55-F6FD-4C2F-9509-C3475760193D}"/>
              </a:ext>
            </a:extLst>
          </p:cNvPr>
          <p:cNvSpPr txBox="1"/>
          <p:nvPr/>
        </p:nvSpPr>
        <p:spPr>
          <a:xfrm>
            <a:off x="927385" y="2051140"/>
            <a:ext cx="1426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전체 개선방향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4444A-9412-4A02-95AC-EE4ECB68C6FF}"/>
              </a:ext>
            </a:extLst>
          </p:cNvPr>
          <p:cNvSpPr txBox="1"/>
          <p:nvPr/>
        </p:nvSpPr>
        <p:spPr>
          <a:xfrm>
            <a:off x="927385" y="3561902"/>
            <a:ext cx="1235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err="1"/>
              <a:t>타겟별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9FC39-C267-4F3F-BC16-AF94D3DB60F4}"/>
              </a:ext>
            </a:extLst>
          </p:cNvPr>
          <p:cNvSpPr txBox="1"/>
          <p:nvPr/>
        </p:nvSpPr>
        <p:spPr>
          <a:xfrm>
            <a:off x="927385" y="5180524"/>
            <a:ext cx="925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Class</a:t>
            </a:r>
            <a:r>
              <a:rPr lang="ko-KR" altLang="en-US"/>
              <a:t>별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66F29A-F496-47F6-BB01-4A7BA79DC940}"/>
              </a:ext>
            </a:extLst>
          </p:cNvPr>
          <p:cNvSpPr txBox="1"/>
          <p:nvPr/>
        </p:nvSpPr>
        <p:spPr>
          <a:xfrm>
            <a:off x="2672817" y="3561902"/>
            <a:ext cx="76332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35</a:t>
            </a:r>
            <a:r>
              <a:rPr lang="ko-KR" altLang="en-US"/>
              <a:t> 세 이상의 고객 만족도에는</a:t>
            </a:r>
            <a:r>
              <a:rPr lang="en-US" altLang="ko-KR"/>
              <a:t>, Leg room service, Entertainment </a:t>
            </a:r>
            <a:r>
              <a:rPr lang="ko-KR" altLang="en-US"/>
              <a:t>등 기내 환경 서비스의 영향이 크다</a:t>
            </a:r>
            <a:r>
              <a:rPr lang="en-US" altLang="ko-KR"/>
              <a:t>. Leg room service</a:t>
            </a:r>
            <a:r>
              <a:rPr lang="ko-KR" altLang="en-US"/>
              <a:t>는  물리적으로 실개선이 어려움</a:t>
            </a:r>
            <a:r>
              <a:rPr lang="en-US" altLang="ko-KR"/>
              <a:t>, </a:t>
            </a:r>
            <a:r>
              <a:rPr lang="ko-KR" altLang="en-US"/>
              <a:t>때문에 </a:t>
            </a:r>
            <a:r>
              <a:rPr lang="en-US" altLang="ko-KR"/>
              <a:t>Entertainment </a:t>
            </a:r>
            <a:r>
              <a:rPr lang="ko-KR" altLang="en-US"/>
              <a:t>서비스 등 기내 환경 서비스의 개선을 목표한다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7D33DD-CF8F-48FC-AE5C-9289D59C2C46}"/>
              </a:ext>
            </a:extLst>
          </p:cNvPr>
          <p:cNvSpPr txBox="1"/>
          <p:nvPr/>
        </p:nvSpPr>
        <p:spPr>
          <a:xfrm>
            <a:off x="2580205" y="5188495"/>
            <a:ext cx="7633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Business</a:t>
            </a:r>
            <a:r>
              <a:rPr lang="ko-KR" altLang="en-US"/>
              <a:t>와 달리 </a:t>
            </a:r>
            <a:r>
              <a:rPr lang="en-US" altLang="ko-KR"/>
              <a:t>Eco</a:t>
            </a:r>
            <a:r>
              <a:rPr lang="ko-KR" altLang="en-US"/>
              <a:t>와 </a:t>
            </a:r>
            <a:r>
              <a:rPr lang="en-US" altLang="ko-KR"/>
              <a:t>Eco plus</a:t>
            </a:r>
            <a:r>
              <a:rPr lang="ko-KR" altLang="en-US"/>
              <a:t>에 대한 </a:t>
            </a:r>
            <a:r>
              <a:rPr lang="en-US" altLang="ko-KR" err="1"/>
              <a:t>wifi</a:t>
            </a:r>
            <a:r>
              <a:rPr lang="en-US" altLang="ko-KR"/>
              <a:t> </a:t>
            </a:r>
            <a:r>
              <a:rPr lang="ko-KR" altLang="en-US"/>
              <a:t>개선 필요</a:t>
            </a:r>
          </a:p>
        </p:txBody>
      </p:sp>
    </p:spTree>
    <p:extLst>
      <p:ext uri="{BB962C8B-B14F-4D97-AF65-F5344CB8AC3E}">
        <p14:creationId xmlns:p14="http://schemas.microsoft.com/office/powerpoint/2010/main" val="4227297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Arial"/>
                <a:sym typeface="Arial"/>
              </a:rPr>
              <a:t>결론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3CC70D-075F-4538-AABC-58C8B371D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212" y="1375770"/>
            <a:ext cx="8022672" cy="1680515"/>
          </a:xfrm>
          <a:prstGeom prst="rect">
            <a:avLst/>
          </a:prstGeo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F695FAA-8BA8-424D-8AF5-C399437AA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371" y="3344560"/>
            <a:ext cx="4826635" cy="3027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1DD21D60-9C30-483C-8985-AD0460332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606" y="3515828"/>
            <a:ext cx="3530278" cy="278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410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55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D383D7F1BF8D4D8922371A7F703CF8" ma:contentTypeVersion="3" ma:contentTypeDescription="새 문서를 만듭니다." ma:contentTypeScope="" ma:versionID="708923fc3fc156c463224abfc6c57565">
  <xsd:schema xmlns:xsd="http://www.w3.org/2001/XMLSchema" xmlns:xs="http://www.w3.org/2001/XMLSchema" xmlns:p="http://schemas.microsoft.com/office/2006/metadata/properties" xmlns:ns2="ae7cab53-d659-4f91-87a2-26a41d5645d9" targetNamespace="http://schemas.microsoft.com/office/2006/metadata/properties" ma:root="true" ma:fieldsID="5c025accf4c695aef361ae030a3bbea0" ns2:_="">
    <xsd:import namespace="ae7cab53-d659-4f91-87a2-26a41d564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cab53-d659-4f91-87a2-26a41d5645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6E4AB4-6812-4825-A477-08F4E47042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74F5F0-E47C-4CD4-9BF1-D80ACD90DC05}">
  <ds:schemaRefs>
    <ds:schemaRef ds:uri="1857a468-9f2d-455b-8425-136ceb0ac253"/>
    <ds:schemaRef ds:uri="9114dcef-bd0d-459c-b9d7-fc63398cd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8E1BED4-0047-47A3-901A-9E67EB9BEE84}">
  <ds:schemaRefs>
    <ds:schemaRef ds:uri="ae7cab53-d659-4f91-87a2-26a41d5645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테마</vt:lpstr>
      <vt:lpstr>PowerPoint Presentation</vt:lpstr>
      <vt:lpstr>요구사항 분석</vt:lpstr>
      <vt:lpstr>데이터 분석</vt:lpstr>
      <vt:lpstr>데이터 분석</vt:lpstr>
      <vt:lpstr>데이터 분석</vt:lpstr>
      <vt:lpstr>데이터 분석</vt:lpstr>
      <vt:lpstr>모델링</vt:lpstr>
      <vt:lpstr>모델링</vt:lpstr>
      <vt:lpstr>결론</vt:lpstr>
      <vt:lpstr>결론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revision>1</cp:revision>
  <dcterms:modified xsi:type="dcterms:W3CDTF">2026-04-16T07:10:49Z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0x0101003FD383D7F1BF8D4D8922371A7F703CF8</vt:lpwstr>
  </property>
  <property fmtid="{D5CDD505-2E9C-101B-9397-08002B2CF9AE}" pid="10" name="MediaServiceImageTags">
    <vt:lpwstr/>
  </property>
</Properties>
</file>