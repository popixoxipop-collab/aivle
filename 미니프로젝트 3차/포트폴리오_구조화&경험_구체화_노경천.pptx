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7"/>
  </p:notesMasterIdLst>
  <p:handoutMasterIdLst>
    <p:handoutMasterId r:id="rId8"/>
  </p:handoutMasterIdLst>
  <p:sldIdLst>
    <p:sldId id="3632" r:id="rId5"/>
    <p:sldId id="3633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CC99"/>
    <a:srgbClr val="FFFF99"/>
    <a:srgbClr val="1F6765"/>
    <a:srgbClr val="E4EFEE"/>
    <a:srgbClr val="FFFFCC"/>
    <a:srgbClr val="E6F2F1"/>
    <a:srgbClr val="AAD7D2"/>
    <a:srgbClr val="D8ECEB"/>
    <a:srgbClr val="F2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7CAC26-F072-67C5-40FC-B3923B842CA3}" v="505" dt="2026-05-14T07:53:02.751"/>
  </p1510:revLst>
</p1510:revInfo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2026-05-14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‹#›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202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21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>
              <a:solidFill>
                <a:srgbClr val="7F7F7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>
                <a:solidFill>
                  <a:srgbClr val="34AEA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Arial"/>
                <a:sym typeface="Arial"/>
              </a:rPr>
              <a:t>KT AIVLE School</a:t>
            </a:r>
            <a:endParaRPr sz="1723">
              <a:solidFill>
                <a:srgbClr val="34AEA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</a:endParaRPr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F3DB9266-1032-4535-A5FC-D4964A5049A9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포트폴리오 구조화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CF7A5A80-58DF-4E0C-999A-4FCB80FF9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001689"/>
              </p:ext>
            </p:extLst>
          </p:nvPr>
        </p:nvGraphicFramePr>
        <p:xfrm>
          <a:off x="1271166" y="1786305"/>
          <a:ext cx="9536096" cy="4395415"/>
        </p:xfrm>
        <a:graphic>
          <a:graphicData uri="http://schemas.openxmlformats.org/drawingml/2006/table">
            <a:tbl>
              <a:tblPr firstRow="1" bandRow="1">
                <a:tableStyleId>{A4739C91-EA2B-441A-B1FC-6100ADDC1FEA}</a:tableStyleId>
              </a:tblPr>
              <a:tblGrid>
                <a:gridCol w="4768048">
                  <a:extLst>
                    <a:ext uri="{9D8B030D-6E8A-4147-A177-3AD203B41FA5}">
                      <a16:colId xmlns:a16="http://schemas.microsoft.com/office/drawing/2014/main" val="2022113663"/>
                    </a:ext>
                  </a:extLst>
                </a:gridCol>
                <a:gridCol w="4768048">
                  <a:extLst>
                    <a:ext uri="{9D8B030D-6E8A-4147-A177-3AD203B41FA5}">
                      <a16:colId xmlns:a16="http://schemas.microsoft.com/office/drawing/2014/main" val="1766571117"/>
                    </a:ext>
                  </a:extLst>
                </a:gridCol>
              </a:tblGrid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설명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573326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프로젝트명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개발 기획 마케팅 실무자를 위한 대시보드 시스템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27066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26.05.11-13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580114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부서별 업무 목적에 최적화된 리뷰 인사이트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524011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PPT 제작자/ </a:t>
                      </a:r>
                      <a:r>
                        <a:rPr lang="ko-KR" sz="1700" b="0" i="0" u="none" strike="noStrike" noProof="0">
                          <a:latin typeface="Arial"/>
                          <a:cs typeface="Arial"/>
                        </a:rPr>
                        <a:t>Supervisor &amp; Critic </a:t>
                      </a:r>
                      <a:r>
                        <a:rPr lang="en-US" altLang="ko-KR" sz="1700" b="0" i="0" u="none" strike="noStrike" noProof="0">
                          <a:latin typeface="Arial"/>
                          <a:cs typeface="Arial"/>
                        </a:rPr>
                        <a:t>Agent</a:t>
                      </a:r>
                      <a:r>
                        <a:rPr lang="ko-KR" sz="1700" b="0" i="0" u="none" strike="noStrike" noProof="0">
                          <a:latin typeface="Arial"/>
                          <a:cs typeface="Arial"/>
                        </a:rPr>
                        <a:t> node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137479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 기술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Miricanvas/ Python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28167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결과물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AI_15조.ipynb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234828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배운 점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HS코드 기준으로 리뷰 내 상품을 분류해서 실무   인사이트(관세율 조회)를 도출해냈다.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075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56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F3DB9266-1032-4535-A5FC-D4964A5049A9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경험 구체화 </a:t>
            </a:r>
          </a:p>
        </p:txBody>
      </p:sp>
      <p:graphicFrame>
        <p:nvGraphicFramePr>
          <p:cNvPr id="4" name="Google Shape;516;g1b5d807d25a_29_172">
            <a:extLst>
              <a:ext uri="{FF2B5EF4-FFF2-40B4-BE49-F238E27FC236}">
                <a16:creationId xmlns:a16="http://schemas.microsoft.com/office/drawing/2014/main" id="{79B0CB51-8791-4048-AEF7-0282A6E78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0778149"/>
              </p:ext>
            </p:extLst>
          </p:nvPr>
        </p:nvGraphicFramePr>
        <p:xfrm>
          <a:off x="180258" y="811161"/>
          <a:ext cx="11834944" cy="555678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2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1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반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수도권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_6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반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_18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조원 성명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조장을 맨 앞에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김만서 김연주 김창민 노경천 박종호 성예은 장봉경 조승대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과제명</a:t>
                      </a:r>
                      <a:endParaRPr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tx1"/>
                          </a:solidFill>
                        </a:rPr>
                        <a:t>개발 기획 마케팅 실무자를 위한 대시보드 시스템 </a:t>
                      </a:r>
                      <a:endParaRPr lang="en-US" altLang="ko-KR" sz="900" b="0" i="0" u="none" strike="noStrike" cap="none" noProof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010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주요 서비스 내용</a:t>
                      </a:r>
                      <a:br>
                        <a:rPr lang="ko-KR" altLang="en-US" sz="1400" b="1" u="none" strike="noStrike" cap="none" dirty="0">
                          <a:solidFill>
                            <a:srgbClr val="000000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</a:b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주요 기능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, 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기술 포함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- 멀티 에이전트 기반 리뷰 분석 파이프라인: LangGraph로 Analyzer–Critic–Supervisor–Product 4개 에이전트를 구성하여,</a:t>
                      </a:r>
                      <a:endParaRPr lang="en-US" alt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리뷰에서 속성(보습·가격·향·포장)별 감성을 추출하고 Critic이 검수, Supervisor가 반복 제어하는 자동화된 분석 체계 구축.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- HS 코드 분류 에이전트 노드 추가: DB 속성에 HS 코드를 추가하고, Product Agent가 리뷰·제품을 HS 코드(3304.99 등)별로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분류. WITS API와 연동해 국가별 수출입 관세율 조회 서비스로 확장.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- State 기반 에이전트 간 정보 공유 구조: State에 reason_code(OUTPUT/SCOPE/EVIDENCE/QUALITY_ERROR)와 repair_directive를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  추가하여, 멀티 에이전트 시스템 운영 시 에이전트 간 오류 원인·수정 지시를 State로 공유하고 재시도 정책을 운용.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- Streamlit 대시보드 — 3개 실무 영역 지원: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   - 개발: LangSmith Trace 결과 조회로 멀티 에이전트 운영 시 비용·답변 품질 일관성 모니터링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   - 기획: 속성별 분포 차트 + 다각적 히트맵 테이블, HS 코드 기반 국가별 관세율 인사이트 제공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   - 마케팅: 강점·약점·추천 액션 경영진 보고서 생성, 제품 상세페이지용 광고 카피 문구·이미지 자동 생성, 비즈니스 액션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솔루션 제공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핵심 기술: LangGraph(Supervisor 중심 반복 제어, reason_code 기반 재시도), LangSmith(Trace·평가·모니터링), OpenAI LLM,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  Streamlit, RDB(batch 처리</a:t>
                      </a:r>
                      <a:r>
                        <a:rPr lang="en-US" altLang="ko-KR" sz="900" b="0" i="0" u="none" strike="noStrike" cap="none" noProof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452572"/>
                  </a:ext>
                </a:extLst>
              </a:tr>
              <a:tr h="2988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목표 고객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(B2B.B2G </a:t>
                      </a:r>
                      <a:r>
                        <a:rPr lang="ko-KR" altLang="en-US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대상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(B2B·B2G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대상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): B2B —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화장품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커머스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플랫폼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입점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업체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자사몰·오픈마켓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운영사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화장품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900" b="0" i="0" u="none" strike="noStrike" cap="none" noProof="0" dirty="0" err="1">
                          <a:solidFill>
                            <a:schemeClr val="tx1"/>
                          </a:solidFill>
                        </a:rPr>
                        <a:t>브랜드사</a:t>
                      </a:r>
                      <a:r>
                        <a:rPr lang="en-US" sz="900" b="0" i="0" u="none" strike="noStrike" cap="none" noProof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90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과제 선정 배경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- 최근 고객 서비스 품질 향상을 위해, 입점 업체에게 특별한 분석 서비스를 제공할 필요성이 대두됨.</a:t>
                      </a:r>
                      <a:endParaRPr lang="en-US" alt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  - 리뷰 데이터는 양은 많지만 수작업 분석에 의존해 개발·기획·마케팅 실무자가 실질적인 인사이트로 활용하기 어려운 상황.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  - 이에 리뷰에서 속성별 감성 정보를 자동 추출하여 입점 업체에 제공함으로써 개발·기획·마케팅 분야에 실질적 인사이트를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  제공하는 서비스 체계를 구축하고자 함.</a:t>
                      </a:r>
                      <a:endParaRPr lang="ko-KR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  - 단기적으로는 리뷰 분석 자동화, 중장기적으로는 리뷰 기반 제품 상세 페이지 생성 및 DB의 HS 코드·WITS API를 활용한</a:t>
                      </a:r>
                      <a:endParaRPr lang="ko-KR" sz="90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  국가별 관세율 조회 서비스로 확장하여, 비즈니스 인사이트를 지닌 고도화된 서비스 제공을 위한 첫 단계로 기획</a:t>
                      </a:r>
                      <a:endParaRPr lang="ko-KR" sz="90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활용 데이터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선택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-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화장품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상품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리뷰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데이터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(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속성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: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보습·가격·향·포장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/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라벨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: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긍정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1·부정 0 / evidence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원문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근거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)</a:t>
                      </a:r>
                      <a:endParaRPr lang="en-US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  - HS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코드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매핑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DB (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스킨케어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3304.99,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헤어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3305.10,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향수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3303.00,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메이크업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3304.10,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바디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3304.99 등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카테고리별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HS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코드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)</a:t>
                      </a:r>
                      <a:endParaRPr lang="en-US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  - WITS API —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국가별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화장품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수출입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관세율</a:t>
                      </a:r>
                      <a:endParaRPr lang="en-US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  -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LangSmith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Trace·평가셋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—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에이전트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실행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추적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,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reason_code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기반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오류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케이스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분석</a:t>
                      </a:r>
                      <a:endParaRPr lang="en-US" sz="90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559410"/>
                  </a:ext>
                </a:extLst>
              </a:tr>
              <a:tr h="7844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기대 효과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선택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-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개발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: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멀티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에이전트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운영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시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발생하는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비용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문제와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답변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품질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일관성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문제를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LangSmith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기반으로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관리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가능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.</a:t>
                      </a:r>
                      <a:endParaRPr lang="en-US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  -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기획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: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속성별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분포·히트맵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시각화와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HS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코드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기반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국가별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관세율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인사이트로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,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어떤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제품을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어느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국가에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출시할지에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대한</a:t>
                      </a:r>
                      <a:endParaRPr lang="en-US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 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데이터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기반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의사결정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지원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.</a:t>
                      </a:r>
                      <a:endParaRPr lang="en-US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  -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마케팅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: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강점·약점·추천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액션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경영진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보고서와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광고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카피·이미지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자동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생성으로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마케팅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콘텐츠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제작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시간·비용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dirty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절감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.</a:t>
                      </a:r>
                      <a:endParaRPr lang="en-US" sz="9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  -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확장성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: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리뷰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분석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자동화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→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제품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상세페이지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생성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→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국가별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관세율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조회로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이어지는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고도화된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비즈니스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 err="1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인사이트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서비스의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첫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단계</a:t>
                      </a: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확보</a:t>
                      </a:r>
                      <a:endParaRPr lang="en-US" sz="900" b="0" i="0" u="none" strike="noStrike" noProof="0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68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387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D383D7F1BF8D4D8922371A7F703CF8" ma:contentTypeVersion="3" ma:contentTypeDescription="새 문서를 만듭니다." ma:contentTypeScope="" ma:versionID="708923fc3fc156c463224abfc6c57565">
  <xsd:schema xmlns:xsd="http://www.w3.org/2001/XMLSchema" xmlns:xs="http://www.w3.org/2001/XMLSchema" xmlns:p="http://schemas.microsoft.com/office/2006/metadata/properties" xmlns:ns2="ae7cab53-d659-4f91-87a2-26a41d5645d9" targetNamespace="http://schemas.microsoft.com/office/2006/metadata/properties" ma:root="true" ma:fieldsID="5c025accf4c695aef361ae030a3bbea0" ns2:_="">
    <xsd:import namespace="ae7cab53-d659-4f91-87a2-26a41d564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cab53-d659-4f91-87a2-26a41d5645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74F5F0-E47C-4CD4-9BF1-D80ACD90DC05}">
  <ds:schemaRefs>
    <ds:schemaRef ds:uri="83fa82f3-e9ff-4381-8a02-09a0217706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D6006FC-B861-4112-AF53-4CCD5B22529C}">
  <ds:schemaRefs>
    <ds:schemaRef ds:uri="ae7cab53-d659-4f91-87a2-26a41d5645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테마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revision>75</cp:revision>
  <dcterms:modified xsi:type="dcterms:W3CDTF">2026-05-14T07:53:28Z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0x0101003FD383D7F1BF8D4D8922371A7F703CF8</vt:lpwstr>
  </property>
  <property fmtid="{D5CDD505-2E9C-101B-9397-08002B2CF9AE}" pid="10" name="MediaServiceImageTags">
    <vt:lpwstr/>
  </property>
  <property fmtid="{D5CDD505-2E9C-101B-9397-08002B2CF9AE}" pid="11" name="Order">
    <vt:r8>600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